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ppt/tags/tag16.xml" ContentType="application/vnd.openxmlformats-officedocument.presentationml.tags+xml"/>
  <Override PartName="/ppt/notesSlides/notesSlide15.xml" ContentType="application/vnd.openxmlformats-officedocument.presentationml.notesSlide+xml"/>
  <Override PartName="/ppt/tags/tag17.xml" ContentType="application/vnd.openxmlformats-officedocument.presentationml.tags+xml"/>
  <Override PartName="/ppt/notesSlides/notesSlide16.xml" ContentType="application/vnd.openxmlformats-officedocument.presentationml.notesSlide+xml"/>
  <Override PartName="/ppt/tags/tag18.xml" ContentType="application/vnd.openxmlformats-officedocument.presentationml.tags+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22"/>
  </p:notesMasterIdLst>
  <p:sldIdLst>
    <p:sldId id="256" r:id="rId5"/>
    <p:sldId id="257" r:id="rId6"/>
    <p:sldId id="258" r:id="rId7"/>
    <p:sldId id="259" r:id="rId8"/>
    <p:sldId id="260" r:id="rId9"/>
    <p:sldId id="261" r:id="rId10"/>
    <p:sldId id="262" r:id="rId11"/>
    <p:sldId id="263" r:id="rId12"/>
    <p:sldId id="270" r:id="rId13"/>
    <p:sldId id="271" r:id="rId14"/>
    <p:sldId id="272" r:id="rId15"/>
    <p:sldId id="264" r:id="rId16"/>
    <p:sldId id="265" r:id="rId17"/>
    <p:sldId id="266" r:id="rId18"/>
    <p:sldId id="267" r:id="rId19"/>
    <p:sldId id="268" r:id="rId20"/>
    <p:sldId id="269" r:id="rId21"/>
  </p:sldIdLst>
  <p:sldSz cx="12192000" cy="6858000"/>
  <p:notesSz cx="6858000" cy="9144000"/>
  <p:embeddedFontLst>
    <p:embeddedFont>
      <p:font typeface="Century Gothic" panose="020B0502020202020204" pitchFamily="34" charset="0"/>
      <p:regular r:id="rId23"/>
      <p:bold r:id="rId24"/>
      <p:italic r:id="rId25"/>
      <p:boldItalic r:id="rId26"/>
    </p:embeddedFont>
  </p:embeddedFontLst>
  <p:custDataLst>
    <p:tags r:id="rId27"/>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8" roundtripDataSignature="AMtx7mhlYlCtF+airiOZksSy3UV5ad0gh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02198C4-3087-4945-87E3-76CBB3509B7E}">
  <a:tblStyle styleId="{802198C4-3087-4945-87E3-76CBB3509B7E}"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4.fntdata"/><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3.fntdata"/><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2.fntdata"/><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1.fntdata"/><Relationship Id="rId28" Type="http://customschemas.google.com/relationships/presentationmetadata" Target="meta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gs" Target="tags/tag1.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63919653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9" name="Google Shape;14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7" name="Google Shape;15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5" name="Google Shape;16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2" name="Google Shape;17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9" name="Google Shape;17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6" name="Google Shape;186;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9504e2950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05325F79-BE7B-A925-085A-0DFF01C22A46}"/>
            </a:ext>
          </a:extLst>
        </p:cNvPr>
        <p:cNvGrpSpPr/>
        <p:nvPr/>
      </p:nvGrpSpPr>
      <p:grpSpPr>
        <a:xfrm>
          <a:off x="0" y="0"/>
          <a:ext cx="0" cy="0"/>
          <a:chOff x="0" y="0"/>
          <a:chExt cx="0" cy="0"/>
        </a:xfrm>
      </p:grpSpPr>
      <p:sp>
        <p:nvSpPr>
          <p:cNvPr id="192" name="Google Shape;192;g9504e29505_0_0:notes">
            <a:extLst>
              <a:ext uri="{FF2B5EF4-FFF2-40B4-BE49-F238E27FC236}">
                <a16:creationId xmlns:a16="http://schemas.microsoft.com/office/drawing/2014/main" id="{9295C4F9-C90C-1587-5A72-F19EE83C3A4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a:extLst>
              <a:ext uri="{FF2B5EF4-FFF2-40B4-BE49-F238E27FC236}">
                <a16:creationId xmlns:a16="http://schemas.microsoft.com/office/drawing/2014/main" id="{802AD5C6-F352-BAC3-3936-E5AFE3C245D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831526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DEEA9E21-746B-692C-5EFA-E1A8B8E2F4A0}"/>
            </a:ext>
          </a:extLst>
        </p:cNvPr>
        <p:cNvGrpSpPr/>
        <p:nvPr/>
      </p:nvGrpSpPr>
      <p:grpSpPr>
        <a:xfrm>
          <a:off x="0" y="0"/>
          <a:ext cx="0" cy="0"/>
          <a:chOff x="0" y="0"/>
          <a:chExt cx="0" cy="0"/>
        </a:xfrm>
      </p:grpSpPr>
      <p:sp>
        <p:nvSpPr>
          <p:cNvPr id="192" name="Google Shape;192;g9504e29505_0_0:notes">
            <a:extLst>
              <a:ext uri="{FF2B5EF4-FFF2-40B4-BE49-F238E27FC236}">
                <a16:creationId xmlns:a16="http://schemas.microsoft.com/office/drawing/2014/main" id="{0AD45F7F-F1F0-3E9D-40EB-EE49AA433B8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a:extLst>
              <a:ext uri="{FF2B5EF4-FFF2-40B4-BE49-F238E27FC236}">
                <a16:creationId xmlns:a16="http://schemas.microsoft.com/office/drawing/2014/main" id="{1C7E7E14-1310-F02F-F8BF-6990356423C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959493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CBFE0DA0-1E3B-C96C-B1EF-FB1535070DA9}"/>
            </a:ext>
          </a:extLst>
        </p:cNvPr>
        <p:cNvGrpSpPr/>
        <p:nvPr/>
      </p:nvGrpSpPr>
      <p:grpSpPr>
        <a:xfrm>
          <a:off x="0" y="0"/>
          <a:ext cx="0" cy="0"/>
          <a:chOff x="0" y="0"/>
          <a:chExt cx="0" cy="0"/>
        </a:xfrm>
      </p:grpSpPr>
      <p:sp>
        <p:nvSpPr>
          <p:cNvPr id="192" name="Google Shape;192;g9504e29505_0_0:notes">
            <a:extLst>
              <a:ext uri="{FF2B5EF4-FFF2-40B4-BE49-F238E27FC236}">
                <a16:creationId xmlns:a16="http://schemas.microsoft.com/office/drawing/2014/main" id="{8B5539D8-4C84-CD50-0A33-DF4E98F1947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a:extLst>
              <a:ext uri="{FF2B5EF4-FFF2-40B4-BE49-F238E27FC236}">
                <a16:creationId xmlns:a16="http://schemas.microsoft.com/office/drawing/2014/main" id="{28FF985A-1212-918E-A3E9-051AB89CBF8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475025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0" name="Google Shape;20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7" name="Google Shape;207;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4" name="Google Shape;214;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1" name="Google Shape;22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8" name="Google Shape;228;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5" name="Google Shape;235;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
        <p:cNvGrpSpPr/>
        <p:nvPr/>
      </p:nvGrpSpPr>
      <p:grpSpPr>
        <a:xfrm>
          <a:off x="0" y="0"/>
          <a:ext cx="0" cy="0"/>
          <a:chOff x="0" y="0"/>
          <a:chExt cx="0" cy="0"/>
        </a:xfrm>
      </p:grpSpPr>
      <p:pic>
        <p:nvPicPr>
          <p:cNvPr id="13" name="Google Shape;13;p1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4" name="Google Shape;14;p16"/>
          <p:cNvSpPr txBox="1">
            <a:spLocks noGrp="1"/>
          </p:cNvSpPr>
          <p:nvPr>
            <p:ph type="ctrTitle"/>
          </p:nvPr>
        </p:nvSpPr>
        <p:spPr>
          <a:xfrm>
            <a:off x="1371600" y="1803405"/>
            <a:ext cx="9448800" cy="182509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6000"/>
              <a:buFont typeface="Century Gothic"/>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16"/>
          <p:cNvSpPr txBox="1">
            <a:spLocks noGrp="1"/>
          </p:cNvSpPr>
          <p:nvPr>
            <p:ph type="subTitle" idx="1"/>
          </p:nvPr>
        </p:nvSpPr>
        <p:spPr>
          <a:xfrm>
            <a:off x="1371600" y="3632201"/>
            <a:ext cx="9448800" cy="6858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2000"/>
              <a:buNone/>
              <a:defRPr sz="20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a:endParaRPr/>
          </a:p>
        </p:txBody>
      </p:sp>
      <p:sp>
        <p:nvSpPr>
          <p:cNvPr id="16" name="Google Shape;16;p16"/>
          <p:cNvSpPr txBox="1">
            <a:spLocks noGrp="1"/>
          </p:cNvSpPr>
          <p:nvPr>
            <p:ph type="dt" idx="10"/>
          </p:nvPr>
        </p:nvSpPr>
        <p:spPr>
          <a:xfrm>
            <a:off x="7909561" y="4314328"/>
            <a:ext cx="2910840" cy="37464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6"/>
          <p:cNvSpPr txBox="1">
            <a:spLocks noGrp="1"/>
          </p:cNvSpPr>
          <p:nvPr>
            <p:ph type="ftr" idx="11"/>
          </p:nvPr>
        </p:nvSpPr>
        <p:spPr>
          <a:xfrm>
            <a:off x="1371600" y="4323845"/>
            <a:ext cx="6400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16"/>
          <p:cNvSpPr txBox="1">
            <a:spLocks noGrp="1"/>
          </p:cNvSpPr>
          <p:nvPr>
            <p:ph type="sldNum" idx="12"/>
          </p:nvPr>
        </p:nvSpPr>
        <p:spPr>
          <a:xfrm>
            <a:off x="8077200" y="1430866"/>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1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7"/>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2" name="Google Shape;22;p17"/>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7"/>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7"/>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25"/>
        <p:cNvGrpSpPr/>
        <p:nvPr/>
      </p:nvGrpSpPr>
      <p:grpSpPr>
        <a:xfrm>
          <a:off x="0" y="0"/>
          <a:ext cx="0" cy="0"/>
          <a:chOff x="0" y="0"/>
          <a:chExt cx="0" cy="0"/>
        </a:xfrm>
      </p:grpSpPr>
      <p:pic>
        <p:nvPicPr>
          <p:cNvPr id="26" name="Google Shape;26;p1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27" name="Google Shape;27;p18"/>
          <p:cNvSpPr txBox="1">
            <a:spLocks noGrp="1"/>
          </p:cNvSpPr>
          <p:nvPr>
            <p:ph type="title"/>
          </p:nvPr>
        </p:nvSpPr>
        <p:spPr>
          <a:xfrm>
            <a:off x="685800" y="753533"/>
            <a:ext cx="10820399" cy="2801935"/>
          </a:xfrm>
          <a:prstGeom prst="rect">
            <a:avLst/>
          </a:prstGeom>
          <a:noFill/>
          <a:ln>
            <a:noFill/>
          </a:ln>
        </p:spPr>
        <p:txBody>
          <a:bodyPr spcFirstLastPara="1" wrap="square" lIns="91425" tIns="45700" rIns="91425" bIns="45700" anchor="b" anchorCtr="0">
            <a:normAutofit/>
          </a:bodyPr>
          <a:lstStyle>
            <a:lvl1pPr lvl="0" algn="r">
              <a:lnSpc>
                <a:spcPct val="90000"/>
              </a:lnSpc>
              <a:spcBef>
                <a:spcPts val="0"/>
              </a:spcBef>
              <a:spcAft>
                <a:spcPts val="0"/>
              </a:spcAft>
              <a:buClr>
                <a:schemeClr val="lt1"/>
              </a:buClr>
              <a:buSzPts val="4000"/>
              <a:buFont typeface="Century Gothic"/>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8"/>
          <p:cNvSpPr txBox="1">
            <a:spLocks noGrp="1"/>
          </p:cNvSpPr>
          <p:nvPr>
            <p:ph type="body" idx="1"/>
          </p:nvPr>
        </p:nvSpPr>
        <p:spPr>
          <a:xfrm>
            <a:off x="1024467" y="3641725"/>
            <a:ext cx="10490200" cy="955675"/>
          </a:xfrm>
          <a:prstGeom prst="rect">
            <a:avLst/>
          </a:prstGeom>
          <a:noFill/>
          <a:ln>
            <a:noFill/>
          </a:ln>
        </p:spPr>
        <p:txBody>
          <a:bodyPr spcFirstLastPara="1" wrap="square" lIns="91425" tIns="45700" rIns="91425" bIns="45700" anchor="t" anchorCtr="0">
            <a:normAutofit/>
          </a:bodyPr>
          <a:lstStyle>
            <a:lvl1pPr marL="457200" lvl="0" indent="-228600" algn="r">
              <a:lnSpc>
                <a:spcPct val="90000"/>
              </a:lnSpc>
              <a:spcBef>
                <a:spcPts val="1000"/>
              </a:spcBef>
              <a:spcAft>
                <a:spcPts val="0"/>
              </a:spcAft>
              <a:buClr>
                <a:schemeClr val="lt1"/>
              </a:buClr>
              <a:buSzPts val="2200"/>
              <a:buNone/>
              <a:defRPr sz="2200">
                <a:solidFill>
                  <a:schemeClr val="lt1"/>
                </a:solidFill>
              </a:defRPr>
            </a:lvl1pPr>
            <a:lvl2pPr marL="914400" lvl="1" indent="-228600" algn="l">
              <a:lnSpc>
                <a:spcPct val="90000"/>
              </a:lnSpc>
              <a:spcBef>
                <a:spcPts val="500"/>
              </a:spcBef>
              <a:spcAft>
                <a:spcPts val="0"/>
              </a:spcAft>
              <a:buClr>
                <a:schemeClr val="lt1"/>
              </a:buClr>
              <a:buSzPts val="2000"/>
              <a:buNone/>
              <a:defRPr sz="2000">
                <a:solidFill>
                  <a:schemeClr val="lt1"/>
                </a:solidFill>
              </a:defRPr>
            </a:lvl2pPr>
            <a:lvl3pPr marL="1371600" lvl="2" indent="-228600" algn="l">
              <a:lnSpc>
                <a:spcPct val="90000"/>
              </a:lnSpc>
              <a:spcBef>
                <a:spcPts val="500"/>
              </a:spcBef>
              <a:spcAft>
                <a:spcPts val="0"/>
              </a:spcAft>
              <a:buClr>
                <a:schemeClr val="lt1"/>
              </a:buClr>
              <a:buSzPts val="1800"/>
              <a:buNone/>
              <a:defRPr sz="1800">
                <a:solidFill>
                  <a:schemeClr val="lt1"/>
                </a:solidFill>
              </a:defRPr>
            </a:lvl3pPr>
            <a:lvl4pPr marL="1828800" lvl="3" indent="-228600" algn="l">
              <a:lnSpc>
                <a:spcPct val="90000"/>
              </a:lnSpc>
              <a:spcBef>
                <a:spcPts val="500"/>
              </a:spcBef>
              <a:spcAft>
                <a:spcPts val="0"/>
              </a:spcAft>
              <a:buClr>
                <a:schemeClr val="lt1"/>
              </a:buClr>
              <a:buSzPts val="1600"/>
              <a:buNone/>
              <a:defRPr sz="1600">
                <a:solidFill>
                  <a:schemeClr val="lt1"/>
                </a:solidFill>
              </a:defRPr>
            </a:lvl4pPr>
            <a:lvl5pPr marL="2286000" lvl="4" indent="-228600" algn="l">
              <a:lnSpc>
                <a:spcPct val="90000"/>
              </a:lnSpc>
              <a:spcBef>
                <a:spcPts val="500"/>
              </a:spcBef>
              <a:spcAft>
                <a:spcPts val="0"/>
              </a:spcAft>
              <a:buClr>
                <a:schemeClr val="lt1"/>
              </a:buClr>
              <a:buSzPts val="1600"/>
              <a:buNone/>
              <a:defRPr sz="1600">
                <a:solidFill>
                  <a:schemeClr val="lt1"/>
                </a:solidFill>
              </a:defRPr>
            </a:lvl5pPr>
            <a:lvl6pPr marL="2743200" lvl="5" indent="-228600" algn="l">
              <a:lnSpc>
                <a:spcPct val="90000"/>
              </a:lnSpc>
              <a:spcBef>
                <a:spcPts val="500"/>
              </a:spcBef>
              <a:spcAft>
                <a:spcPts val="0"/>
              </a:spcAft>
              <a:buClr>
                <a:schemeClr val="lt1"/>
              </a:buClr>
              <a:buSzPts val="1600"/>
              <a:buNone/>
              <a:defRPr sz="1600">
                <a:solidFill>
                  <a:schemeClr val="lt1"/>
                </a:solidFill>
              </a:defRPr>
            </a:lvl6pPr>
            <a:lvl7pPr marL="3200400" lvl="6" indent="-228600" algn="l">
              <a:lnSpc>
                <a:spcPct val="90000"/>
              </a:lnSpc>
              <a:spcBef>
                <a:spcPts val="500"/>
              </a:spcBef>
              <a:spcAft>
                <a:spcPts val="0"/>
              </a:spcAft>
              <a:buClr>
                <a:schemeClr val="lt1"/>
              </a:buClr>
              <a:buSzPts val="1600"/>
              <a:buNone/>
              <a:defRPr sz="1600">
                <a:solidFill>
                  <a:schemeClr val="lt1"/>
                </a:solidFill>
              </a:defRPr>
            </a:lvl7pPr>
            <a:lvl8pPr marL="3657600" lvl="7" indent="-228600" algn="l">
              <a:lnSpc>
                <a:spcPct val="90000"/>
              </a:lnSpc>
              <a:spcBef>
                <a:spcPts val="500"/>
              </a:spcBef>
              <a:spcAft>
                <a:spcPts val="0"/>
              </a:spcAft>
              <a:buClr>
                <a:schemeClr val="lt1"/>
              </a:buClr>
              <a:buSzPts val="1600"/>
              <a:buNone/>
              <a:defRPr sz="1600">
                <a:solidFill>
                  <a:schemeClr val="lt1"/>
                </a:solidFill>
              </a:defRPr>
            </a:lvl8pPr>
            <a:lvl9pPr marL="4114800" lvl="8" indent="-228600" algn="l">
              <a:lnSpc>
                <a:spcPct val="90000"/>
              </a:lnSpc>
              <a:spcBef>
                <a:spcPts val="500"/>
              </a:spcBef>
              <a:spcAft>
                <a:spcPts val="0"/>
              </a:spcAft>
              <a:buClr>
                <a:schemeClr val="lt1"/>
              </a:buClr>
              <a:buSzPts val="1600"/>
              <a:buNone/>
              <a:defRPr sz="1600">
                <a:solidFill>
                  <a:schemeClr val="lt1"/>
                </a:solidFill>
              </a:defRPr>
            </a:lvl9pPr>
          </a:lstStyle>
          <a:p>
            <a:endParaRPr/>
          </a:p>
        </p:txBody>
      </p:sp>
      <p:sp>
        <p:nvSpPr>
          <p:cNvPr id="29" name="Google Shape;29;p18"/>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8"/>
          <p:cNvSpPr txBox="1">
            <a:spLocks noGrp="1"/>
          </p:cNvSpPr>
          <p:nvPr>
            <p:ph type="ftr" idx="11"/>
          </p:nvPr>
        </p:nvSpPr>
        <p:spPr>
          <a:xfrm>
            <a:off x="685800" y="381001"/>
            <a:ext cx="6991492" cy="36406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2"/>
        <p:cNvGrpSpPr/>
        <p:nvPr/>
      </p:nvGrpSpPr>
      <p:grpSpPr>
        <a:xfrm>
          <a:off x="0" y="0"/>
          <a:ext cx="0" cy="0"/>
          <a:chOff x="0" y="0"/>
          <a:chExt cx="0" cy="0"/>
        </a:xfrm>
      </p:grpSpPr>
      <p:sp>
        <p:nvSpPr>
          <p:cNvPr id="33" name="Google Shape;33;p1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9"/>
          <p:cNvSpPr txBox="1">
            <a:spLocks noGrp="1"/>
          </p:cNvSpPr>
          <p:nvPr>
            <p:ph type="body" idx="1"/>
          </p:nvPr>
        </p:nvSpPr>
        <p:spPr>
          <a:xfrm>
            <a:off x="6858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5" name="Google Shape;35;p19"/>
          <p:cNvSpPr txBox="1">
            <a:spLocks noGrp="1"/>
          </p:cNvSpPr>
          <p:nvPr>
            <p:ph type="body" idx="2"/>
          </p:nvPr>
        </p:nvSpPr>
        <p:spPr>
          <a:xfrm>
            <a:off x="61722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6" name="Google Shape;36;p1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9"/>
        <p:cNvGrpSpPr/>
        <p:nvPr/>
      </p:nvGrpSpPr>
      <p:grpSpPr>
        <a:xfrm>
          <a:off x="0" y="0"/>
          <a:ext cx="0" cy="0"/>
          <a:chOff x="0" y="0"/>
          <a:chExt cx="0" cy="0"/>
        </a:xfrm>
      </p:grpSpPr>
      <p:sp>
        <p:nvSpPr>
          <p:cNvPr id="40" name="Google Shape;40;p20"/>
          <p:cNvSpPr txBox="1">
            <a:spLocks noGrp="1"/>
          </p:cNvSpPr>
          <p:nvPr>
            <p:ph type="title"/>
          </p:nvPr>
        </p:nvSpPr>
        <p:spPr>
          <a:xfrm>
            <a:off x="2895600" y="762000"/>
            <a:ext cx="8610600"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0"/>
          <p:cNvSpPr txBox="1">
            <a:spLocks noGrp="1"/>
          </p:cNvSpPr>
          <p:nvPr>
            <p:ph type="body" idx="1"/>
          </p:nvPr>
        </p:nvSpPr>
        <p:spPr>
          <a:xfrm>
            <a:off x="914409" y="2183802"/>
            <a:ext cx="50799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2" name="Google Shape;42;p20"/>
          <p:cNvSpPr txBox="1">
            <a:spLocks noGrp="1"/>
          </p:cNvSpPr>
          <p:nvPr>
            <p:ph type="body" idx="2"/>
          </p:nvPr>
        </p:nvSpPr>
        <p:spPr>
          <a:xfrm>
            <a:off x="685800" y="3132666"/>
            <a:ext cx="5311775"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3" name="Google Shape;43;p20"/>
          <p:cNvSpPr txBox="1">
            <a:spLocks noGrp="1"/>
          </p:cNvSpPr>
          <p:nvPr>
            <p:ph type="body" idx="3"/>
          </p:nvPr>
        </p:nvSpPr>
        <p:spPr>
          <a:xfrm>
            <a:off x="6400800" y="2183802"/>
            <a:ext cx="510540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4" name="Google Shape;44;p20"/>
          <p:cNvSpPr txBox="1">
            <a:spLocks noGrp="1"/>
          </p:cNvSpPr>
          <p:nvPr>
            <p:ph type="body" idx="4"/>
          </p:nvPr>
        </p:nvSpPr>
        <p:spPr>
          <a:xfrm>
            <a:off x="6172200" y="3132666"/>
            <a:ext cx="5334000"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5" name="Google Shape;45;p2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8"/>
        <p:cNvGrpSpPr/>
        <p:nvPr/>
      </p:nvGrpSpPr>
      <p:grpSpPr>
        <a:xfrm>
          <a:off x="0" y="0"/>
          <a:ext cx="0" cy="0"/>
          <a:chOff x="0" y="0"/>
          <a:chExt cx="0" cy="0"/>
        </a:xfrm>
      </p:grpSpPr>
      <p:sp>
        <p:nvSpPr>
          <p:cNvPr id="49" name="Google Shape;49;p2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22"/>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22"/>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2"/>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23"/>
          <p:cNvSpPr txBox="1">
            <a:spLocks noGrp="1"/>
          </p:cNvSpPr>
          <p:nvPr>
            <p:ph type="title"/>
          </p:nvPr>
        </p:nvSpPr>
        <p:spPr>
          <a:xfrm>
            <a:off x="685800" y="1524000"/>
            <a:ext cx="41148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3"/>
          <p:cNvSpPr txBox="1">
            <a:spLocks noGrp="1"/>
          </p:cNvSpPr>
          <p:nvPr>
            <p:ph type="body" idx="1"/>
          </p:nvPr>
        </p:nvSpPr>
        <p:spPr>
          <a:xfrm>
            <a:off x="4995582" y="746759"/>
            <a:ext cx="6510618" cy="5471925"/>
          </a:xfrm>
          <a:prstGeom prst="rect">
            <a:avLst/>
          </a:prstGeom>
          <a:noFill/>
          <a:ln>
            <a:noFill/>
          </a:ln>
        </p:spPr>
        <p:txBody>
          <a:bodyPr spcFirstLastPara="1" wrap="square" lIns="91425" tIns="45700" rIns="91425" bIns="45700" anchor="ctr"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60" name="Google Shape;60;p23"/>
          <p:cNvSpPr txBox="1">
            <a:spLocks noGrp="1"/>
          </p:cNvSpPr>
          <p:nvPr>
            <p:ph type="body" idx="2"/>
          </p:nvPr>
        </p:nvSpPr>
        <p:spPr>
          <a:xfrm>
            <a:off x="685800" y="3124199"/>
            <a:ext cx="411480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1" name="Google Shape;61;p23"/>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23"/>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3"/>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24"/>
          <p:cNvSpPr txBox="1">
            <a:spLocks noGrp="1"/>
          </p:cNvSpPr>
          <p:nvPr>
            <p:ph type="title"/>
          </p:nvPr>
        </p:nvSpPr>
        <p:spPr>
          <a:xfrm>
            <a:off x="685800" y="1524000"/>
            <a:ext cx="687324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4"/>
          <p:cNvSpPr>
            <a:spLocks noGrp="1"/>
          </p:cNvSpPr>
          <p:nvPr>
            <p:ph type="pic" idx="2"/>
          </p:nvPr>
        </p:nvSpPr>
        <p:spPr>
          <a:xfrm>
            <a:off x="7861238" y="751241"/>
            <a:ext cx="3644962" cy="5467443"/>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67" name="Google Shape;67;p24"/>
          <p:cNvSpPr txBox="1">
            <a:spLocks noGrp="1"/>
          </p:cNvSpPr>
          <p:nvPr>
            <p:ph type="body" idx="1"/>
          </p:nvPr>
        </p:nvSpPr>
        <p:spPr>
          <a:xfrm>
            <a:off x="685800" y="3124199"/>
            <a:ext cx="687324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8" name="Google Shape;68;p24"/>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24"/>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4"/>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1" name="Shape 71"/>
        <p:cNvGrpSpPr/>
        <p:nvPr/>
      </p:nvGrpSpPr>
      <p:grpSpPr>
        <a:xfrm>
          <a:off x="0" y="0"/>
          <a:ext cx="0" cy="0"/>
          <a:chOff x="0" y="0"/>
          <a:chExt cx="0" cy="0"/>
        </a:xfrm>
      </p:grpSpPr>
      <p:sp>
        <p:nvSpPr>
          <p:cNvPr id="72" name="Google Shape;72;p25"/>
          <p:cNvSpPr txBox="1">
            <a:spLocks noGrp="1"/>
          </p:cNvSpPr>
          <p:nvPr>
            <p:ph type="title"/>
          </p:nvPr>
        </p:nvSpPr>
        <p:spPr>
          <a:xfrm>
            <a:off x="685777" y="4697360"/>
            <a:ext cx="10822034" cy="81935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5"/>
          <p:cNvSpPr>
            <a:spLocks noGrp="1"/>
          </p:cNvSpPr>
          <p:nvPr>
            <p:ph type="pic" idx="2"/>
          </p:nvPr>
        </p:nvSpPr>
        <p:spPr>
          <a:xfrm>
            <a:off x="681727" y="941439"/>
            <a:ext cx="10821840" cy="3478161"/>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74" name="Google Shape;74;p25"/>
          <p:cNvSpPr txBox="1">
            <a:spLocks noGrp="1"/>
          </p:cNvSpPr>
          <p:nvPr>
            <p:ph type="body" idx="1"/>
          </p:nvPr>
        </p:nvSpPr>
        <p:spPr>
          <a:xfrm>
            <a:off x="685800" y="5516715"/>
            <a:ext cx="10820400" cy="70196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75" name="Google Shape;75;p2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Title and Caption">
  <p:cSld name="Title and Caption">
    <p:spTree>
      <p:nvGrpSpPr>
        <p:cNvPr id="1" name="Shape 78"/>
        <p:cNvGrpSpPr/>
        <p:nvPr/>
      </p:nvGrpSpPr>
      <p:grpSpPr>
        <a:xfrm>
          <a:off x="0" y="0"/>
          <a:ext cx="0" cy="0"/>
          <a:chOff x="0" y="0"/>
          <a:chExt cx="0" cy="0"/>
        </a:xfrm>
      </p:grpSpPr>
      <p:pic>
        <p:nvPicPr>
          <p:cNvPr id="79" name="Google Shape;79;p2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0" name="Google Shape;80;p26"/>
          <p:cNvSpPr txBox="1">
            <a:spLocks noGrp="1"/>
          </p:cNvSpPr>
          <p:nvPr>
            <p:ph type="title"/>
          </p:nvPr>
        </p:nvSpPr>
        <p:spPr>
          <a:xfrm>
            <a:off x="685800" y="753532"/>
            <a:ext cx="10820400" cy="280246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26"/>
          <p:cNvSpPr txBox="1">
            <a:spLocks noGrp="1"/>
          </p:cNvSpPr>
          <p:nvPr>
            <p:ph type="body" idx="1"/>
          </p:nvPr>
        </p:nvSpPr>
        <p:spPr>
          <a:xfrm>
            <a:off x="1024467" y="3649133"/>
            <a:ext cx="10130516" cy="999067"/>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2" name="Google Shape;82;p26"/>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6"/>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26"/>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Quote with Caption">
  <p:cSld name="Quote with Caption">
    <p:spTree>
      <p:nvGrpSpPr>
        <p:cNvPr id="1" name="Shape 85"/>
        <p:cNvGrpSpPr/>
        <p:nvPr/>
      </p:nvGrpSpPr>
      <p:grpSpPr>
        <a:xfrm>
          <a:off x="0" y="0"/>
          <a:ext cx="0" cy="0"/>
          <a:chOff x="0" y="0"/>
          <a:chExt cx="0" cy="0"/>
        </a:xfrm>
      </p:grpSpPr>
      <p:pic>
        <p:nvPicPr>
          <p:cNvPr id="86" name="Google Shape;86;p27"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7" name="Google Shape;87;p27"/>
          <p:cNvSpPr txBox="1">
            <a:spLocks noGrp="1"/>
          </p:cNvSpPr>
          <p:nvPr>
            <p:ph type="title"/>
          </p:nvPr>
        </p:nvSpPr>
        <p:spPr>
          <a:xfrm>
            <a:off x="1024467" y="753533"/>
            <a:ext cx="10151533" cy="260449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27"/>
          <p:cNvSpPr txBox="1">
            <a:spLocks noGrp="1"/>
          </p:cNvSpPr>
          <p:nvPr>
            <p:ph type="body" idx="1"/>
          </p:nvPr>
        </p:nvSpPr>
        <p:spPr>
          <a:xfrm>
            <a:off x="1303865" y="3365556"/>
            <a:ext cx="9592736" cy="44444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9" name="Google Shape;89;p27"/>
          <p:cNvSpPr txBox="1">
            <a:spLocks noGrp="1"/>
          </p:cNvSpPr>
          <p:nvPr>
            <p:ph type="body" idx="2"/>
          </p:nvPr>
        </p:nvSpPr>
        <p:spPr>
          <a:xfrm>
            <a:off x="1024467" y="3959862"/>
            <a:ext cx="10151533" cy="679871"/>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0" name="Google Shape;90;p27"/>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27"/>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27"/>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
        <p:nvSpPr>
          <p:cNvPr id="93" name="Google Shape;93;p27"/>
          <p:cNvSpPr txBox="1"/>
          <p:nvPr/>
        </p:nvSpPr>
        <p:spPr>
          <a:xfrm>
            <a:off x="476250" y="933450"/>
            <a:ext cx="609600" cy="58477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
        <p:nvSpPr>
          <p:cNvPr id="94" name="Google Shape;94;p27"/>
          <p:cNvSpPr txBox="1"/>
          <p:nvPr/>
        </p:nvSpPr>
        <p:spPr>
          <a:xfrm>
            <a:off x="10984230" y="2701290"/>
            <a:ext cx="609600" cy="584776"/>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Name Card">
  <p:cSld name="Name Card">
    <p:spTree>
      <p:nvGrpSpPr>
        <p:cNvPr id="1" name="Shape 95"/>
        <p:cNvGrpSpPr/>
        <p:nvPr/>
      </p:nvGrpSpPr>
      <p:grpSpPr>
        <a:xfrm>
          <a:off x="0" y="0"/>
          <a:ext cx="0" cy="0"/>
          <a:chOff x="0" y="0"/>
          <a:chExt cx="0" cy="0"/>
        </a:xfrm>
      </p:grpSpPr>
      <p:pic>
        <p:nvPicPr>
          <p:cNvPr id="96" name="Google Shape;96;p2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97" name="Google Shape;97;p28"/>
          <p:cNvSpPr txBox="1">
            <a:spLocks noGrp="1"/>
          </p:cNvSpPr>
          <p:nvPr>
            <p:ph type="title"/>
          </p:nvPr>
        </p:nvSpPr>
        <p:spPr>
          <a:xfrm>
            <a:off x="1024495" y="1124701"/>
            <a:ext cx="10146186" cy="251183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28"/>
          <p:cNvSpPr txBox="1">
            <a:spLocks noGrp="1"/>
          </p:cNvSpPr>
          <p:nvPr>
            <p:ph type="body" idx="1"/>
          </p:nvPr>
        </p:nvSpPr>
        <p:spPr>
          <a:xfrm>
            <a:off x="1024467" y="3648315"/>
            <a:ext cx="10144654" cy="9998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9" name="Google Shape;99;p28"/>
          <p:cNvSpPr txBox="1">
            <a:spLocks noGrp="1"/>
          </p:cNvSpPr>
          <p:nvPr>
            <p:ph type="dt" idx="10"/>
          </p:nvPr>
        </p:nvSpPr>
        <p:spPr>
          <a:xfrm>
            <a:off x="7814452" y="378883"/>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28"/>
          <p:cNvSpPr txBox="1">
            <a:spLocks noGrp="1"/>
          </p:cNvSpPr>
          <p:nvPr>
            <p:ph type="ftr" idx="11"/>
          </p:nvPr>
        </p:nvSpPr>
        <p:spPr>
          <a:xfrm>
            <a:off x="685800" y="378883"/>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1" name="Google Shape;101;p2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 Column">
  <p:cSld name="3 Column">
    <p:spTree>
      <p:nvGrpSpPr>
        <p:cNvPr id="1" name="Shape 102"/>
        <p:cNvGrpSpPr/>
        <p:nvPr/>
      </p:nvGrpSpPr>
      <p:grpSpPr>
        <a:xfrm>
          <a:off x="0" y="0"/>
          <a:ext cx="0" cy="0"/>
          <a:chOff x="0" y="0"/>
          <a:chExt cx="0" cy="0"/>
        </a:xfrm>
      </p:grpSpPr>
      <p:sp>
        <p:nvSpPr>
          <p:cNvPr id="103" name="Google Shape;103;p29"/>
          <p:cNvSpPr txBox="1">
            <a:spLocks noGrp="1"/>
          </p:cNvSpPr>
          <p:nvPr>
            <p:ph type="title"/>
          </p:nvPr>
        </p:nvSpPr>
        <p:spPr>
          <a:xfrm>
            <a:off x="2895600" y="761999"/>
            <a:ext cx="8610599" cy="1303867"/>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29"/>
          <p:cNvSpPr txBox="1">
            <a:spLocks noGrp="1"/>
          </p:cNvSpPr>
          <p:nvPr>
            <p:ph type="body" idx="1"/>
          </p:nvPr>
        </p:nvSpPr>
        <p:spPr>
          <a:xfrm>
            <a:off x="685800" y="2202080"/>
            <a:ext cx="3456432" cy="617320"/>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5" name="Google Shape;105;p29"/>
          <p:cNvSpPr txBox="1">
            <a:spLocks noGrp="1"/>
          </p:cNvSpPr>
          <p:nvPr>
            <p:ph type="body" idx="2"/>
          </p:nvPr>
        </p:nvSpPr>
        <p:spPr>
          <a:xfrm>
            <a:off x="685799"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6" name="Google Shape;106;p29"/>
          <p:cNvSpPr txBox="1">
            <a:spLocks noGrp="1"/>
          </p:cNvSpPr>
          <p:nvPr>
            <p:ph type="body" idx="3"/>
          </p:nvPr>
        </p:nvSpPr>
        <p:spPr>
          <a:xfrm>
            <a:off x="4368800" y="2201333"/>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7" name="Google Shape;107;p29"/>
          <p:cNvSpPr txBox="1">
            <a:spLocks noGrp="1"/>
          </p:cNvSpPr>
          <p:nvPr>
            <p:ph type="body" idx="4"/>
          </p:nvPr>
        </p:nvSpPr>
        <p:spPr>
          <a:xfrm>
            <a:off x="4366858" y="2904067"/>
            <a:ext cx="3456432" cy="331461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8" name="Google Shape;108;p29"/>
          <p:cNvSpPr txBox="1">
            <a:spLocks noGrp="1"/>
          </p:cNvSpPr>
          <p:nvPr>
            <p:ph type="body" idx="5"/>
          </p:nvPr>
        </p:nvSpPr>
        <p:spPr>
          <a:xfrm>
            <a:off x="8051800" y="2192866"/>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9" name="Google Shape;109;p29"/>
          <p:cNvSpPr txBox="1">
            <a:spLocks noGrp="1"/>
          </p:cNvSpPr>
          <p:nvPr>
            <p:ph type="body" idx="6"/>
          </p:nvPr>
        </p:nvSpPr>
        <p:spPr>
          <a:xfrm>
            <a:off x="8051801"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0" name="Google Shape;110;p2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1" name="Google Shape;111;p2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2" name="Google Shape;112;p2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3 Picture Column">
  <p:cSld name="3 Picture Column">
    <p:spTree>
      <p:nvGrpSpPr>
        <p:cNvPr id="1" name="Shape 113"/>
        <p:cNvGrpSpPr/>
        <p:nvPr/>
      </p:nvGrpSpPr>
      <p:grpSpPr>
        <a:xfrm>
          <a:off x="0" y="0"/>
          <a:ext cx="0" cy="0"/>
          <a:chOff x="0" y="0"/>
          <a:chExt cx="0" cy="0"/>
        </a:xfrm>
      </p:grpSpPr>
      <p:sp>
        <p:nvSpPr>
          <p:cNvPr id="114" name="Google Shape;114;p30"/>
          <p:cNvSpPr txBox="1">
            <a:spLocks noGrp="1"/>
          </p:cNvSpPr>
          <p:nvPr>
            <p:ph type="title"/>
          </p:nvPr>
        </p:nvSpPr>
        <p:spPr>
          <a:xfrm>
            <a:off x="2895600" y="762000"/>
            <a:ext cx="8610599"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5" name="Google Shape;115;p30"/>
          <p:cNvSpPr txBox="1">
            <a:spLocks noGrp="1"/>
          </p:cNvSpPr>
          <p:nvPr>
            <p:ph type="body" idx="1"/>
          </p:nvPr>
        </p:nvSpPr>
        <p:spPr>
          <a:xfrm>
            <a:off x="688618" y="4191000"/>
            <a:ext cx="3451582"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6" name="Google Shape;116;p30"/>
          <p:cNvSpPr>
            <a:spLocks noGrp="1"/>
          </p:cNvSpPr>
          <p:nvPr>
            <p:ph type="pic" idx="2"/>
          </p:nvPr>
        </p:nvSpPr>
        <p:spPr>
          <a:xfrm>
            <a:off x="688618" y="2362200"/>
            <a:ext cx="3451582"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17" name="Google Shape;117;p30"/>
          <p:cNvSpPr txBox="1">
            <a:spLocks noGrp="1"/>
          </p:cNvSpPr>
          <p:nvPr>
            <p:ph type="body" idx="3"/>
          </p:nvPr>
        </p:nvSpPr>
        <p:spPr>
          <a:xfrm>
            <a:off x="688618" y="4873764"/>
            <a:ext cx="3451582"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8" name="Google Shape;118;p30"/>
          <p:cNvSpPr txBox="1">
            <a:spLocks noGrp="1"/>
          </p:cNvSpPr>
          <p:nvPr>
            <p:ph type="body" idx="4"/>
          </p:nvPr>
        </p:nvSpPr>
        <p:spPr>
          <a:xfrm>
            <a:off x="4374263" y="4191000"/>
            <a:ext cx="3448935"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9" name="Google Shape;119;p30"/>
          <p:cNvSpPr>
            <a:spLocks noGrp="1"/>
          </p:cNvSpPr>
          <p:nvPr>
            <p:ph type="pic" idx="5"/>
          </p:nvPr>
        </p:nvSpPr>
        <p:spPr>
          <a:xfrm>
            <a:off x="4374263" y="2362200"/>
            <a:ext cx="3448936"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0" name="Google Shape;120;p30"/>
          <p:cNvSpPr txBox="1">
            <a:spLocks noGrp="1"/>
          </p:cNvSpPr>
          <p:nvPr>
            <p:ph type="body" idx="6"/>
          </p:nvPr>
        </p:nvSpPr>
        <p:spPr>
          <a:xfrm>
            <a:off x="4374264" y="4873763"/>
            <a:ext cx="344893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1" name="Google Shape;121;p30"/>
          <p:cNvSpPr txBox="1">
            <a:spLocks noGrp="1"/>
          </p:cNvSpPr>
          <p:nvPr>
            <p:ph type="body" idx="7"/>
          </p:nvPr>
        </p:nvSpPr>
        <p:spPr>
          <a:xfrm>
            <a:off x="8049731" y="4191000"/>
            <a:ext cx="3456469"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22" name="Google Shape;122;p30"/>
          <p:cNvSpPr>
            <a:spLocks noGrp="1"/>
          </p:cNvSpPr>
          <p:nvPr>
            <p:ph type="pic" idx="8"/>
          </p:nvPr>
        </p:nvSpPr>
        <p:spPr>
          <a:xfrm>
            <a:off x="8049855" y="2362200"/>
            <a:ext cx="3447878"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3" name="Google Shape;123;p30"/>
          <p:cNvSpPr txBox="1">
            <a:spLocks noGrp="1"/>
          </p:cNvSpPr>
          <p:nvPr>
            <p:ph type="body" idx="9"/>
          </p:nvPr>
        </p:nvSpPr>
        <p:spPr>
          <a:xfrm>
            <a:off x="8049731" y="4873761"/>
            <a:ext cx="345244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4" name="Google Shape;124;p3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5" name="Google Shape;125;p3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6" name="Google Shape;126;p3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27"/>
        <p:cNvGrpSpPr/>
        <p:nvPr/>
      </p:nvGrpSpPr>
      <p:grpSpPr>
        <a:xfrm>
          <a:off x="0" y="0"/>
          <a:ext cx="0" cy="0"/>
          <a:chOff x="0" y="0"/>
          <a:chExt cx="0" cy="0"/>
        </a:xfrm>
      </p:grpSpPr>
      <p:sp>
        <p:nvSpPr>
          <p:cNvPr id="128" name="Google Shape;128;p3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9" name="Google Shape;129;p31"/>
          <p:cNvSpPr txBox="1">
            <a:spLocks noGrp="1"/>
          </p:cNvSpPr>
          <p:nvPr>
            <p:ph type="body" idx="1"/>
          </p:nvPr>
        </p:nvSpPr>
        <p:spPr>
          <a:xfrm rot="5400000">
            <a:off x="4083937" y="-1203579"/>
            <a:ext cx="4024125" cy="10820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0" name="Google Shape;130;p3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1" name="Google Shape;131;p3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2" name="Google Shape;132;p3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133"/>
        <p:cNvGrpSpPr/>
        <p:nvPr/>
      </p:nvGrpSpPr>
      <p:grpSpPr>
        <a:xfrm>
          <a:off x="0" y="0"/>
          <a:ext cx="0" cy="0"/>
          <a:chOff x="0" y="0"/>
          <a:chExt cx="0" cy="0"/>
        </a:xfrm>
      </p:grpSpPr>
      <p:pic>
        <p:nvPicPr>
          <p:cNvPr id="134" name="Google Shape;134;p32"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35" name="Google Shape;135;p32"/>
          <p:cNvSpPr txBox="1">
            <a:spLocks noGrp="1"/>
          </p:cNvSpPr>
          <p:nvPr>
            <p:ph type="title"/>
          </p:nvPr>
        </p:nvSpPr>
        <p:spPr>
          <a:xfrm rot="5400000">
            <a:off x="8525933" y="1667933"/>
            <a:ext cx="3903133" cy="20574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000"/>
              <a:buFont typeface="Century Gothic"/>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6" name="Google Shape;136;p32"/>
          <p:cNvSpPr txBox="1">
            <a:spLocks noGrp="1"/>
          </p:cNvSpPr>
          <p:nvPr>
            <p:ph type="body" idx="1"/>
          </p:nvPr>
        </p:nvSpPr>
        <p:spPr>
          <a:xfrm rot="5400000">
            <a:off x="3175000" y="-1405467"/>
            <a:ext cx="3903133" cy="820420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7" name="Google Shape;137;p32"/>
          <p:cNvSpPr txBox="1">
            <a:spLocks noGrp="1"/>
          </p:cNvSpPr>
          <p:nvPr>
            <p:ph type="dt" idx="10"/>
          </p:nvPr>
        </p:nvSpPr>
        <p:spPr>
          <a:xfrm>
            <a:off x="7814452" y="379941"/>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8" name="Google Shape;138;p32"/>
          <p:cNvSpPr txBox="1">
            <a:spLocks noGrp="1"/>
          </p:cNvSpPr>
          <p:nvPr>
            <p:ph type="ftr" idx="11"/>
          </p:nvPr>
        </p:nvSpPr>
        <p:spPr>
          <a:xfrm>
            <a:off x="685800" y="381000"/>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9" name="Google Shape;139;p32"/>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
        <p:cNvGrpSpPr/>
        <p:nvPr/>
      </p:nvGrpSpPr>
      <p:grpSpPr>
        <a:xfrm>
          <a:off x="0" y="0"/>
          <a:ext cx="0" cy="0"/>
          <a:chOff x="0" y="0"/>
          <a:chExt cx="0" cy="0"/>
        </a:xfrm>
      </p:grpSpPr>
      <p:pic>
        <p:nvPicPr>
          <p:cNvPr id="6" name="Google Shape;6;p15" descr="C0-HD-TOP.png"/>
          <p:cNvPicPr preferRelativeResize="0"/>
          <p:nvPr/>
        </p:nvPicPr>
        <p:blipFill rotWithShape="1">
          <a:blip r:embed="rId19">
            <a:alphaModFix/>
          </a:blip>
          <a:srcRect/>
          <a:stretch/>
        </p:blipFill>
        <p:spPr>
          <a:xfrm>
            <a:off x="0" y="0"/>
            <a:ext cx="12192000" cy="1441450"/>
          </a:xfrm>
          <a:prstGeom prst="rect">
            <a:avLst/>
          </a:prstGeom>
          <a:noFill/>
          <a:ln>
            <a:noFill/>
          </a:ln>
        </p:spPr>
      </p:pic>
      <p:sp>
        <p:nvSpPr>
          <p:cNvPr id="7" name="Google Shape;7;p1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marR="0" lvl="0" algn="r" rtl="0">
              <a:lnSpc>
                <a:spcPct val="90000"/>
              </a:lnSpc>
              <a:spcBef>
                <a:spcPts val="0"/>
              </a:spcBef>
              <a:spcAft>
                <a:spcPts val="0"/>
              </a:spcAft>
              <a:buClr>
                <a:schemeClr val="lt1"/>
              </a:buClr>
              <a:buSzPts val="4000"/>
              <a:buFont typeface="Century Gothic"/>
              <a:buNone/>
              <a:defRPr sz="400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p15"/>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marR="0" lvl="0" indent="-368300" algn="l" rtl="0">
              <a:lnSpc>
                <a:spcPct val="90000"/>
              </a:lnSpc>
              <a:spcBef>
                <a:spcPts val="1000"/>
              </a:spcBef>
              <a:spcAft>
                <a:spcPts val="0"/>
              </a:spcAft>
              <a:buClr>
                <a:schemeClr val="lt1"/>
              </a:buClr>
              <a:buSzPts val="2200"/>
              <a:buFont typeface="Arial"/>
              <a:buChar char="•"/>
              <a:defRPr sz="2200" b="0" i="0" u="none" strike="noStrike" cap="none">
                <a:solidFill>
                  <a:schemeClr val="lt1"/>
                </a:solidFill>
                <a:latin typeface="Century Gothic"/>
                <a:ea typeface="Century Gothic"/>
                <a:cs typeface="Century Gothic"/>
                <a:sym typeface="Century Gothic"/>
              </a:defRPr>
            </a:lvl1pPr>
            <a:lvl2pPr marL="914400" marR="0" lvl="1"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entury Gothic"/>
                <a:ea typeface="Century Gothic"/>
                <a:cs typeface="Century Gothic"/>
                <a:sym typeface="Century Gothic"/>
              </a:defRPr>
            </a:lvl3pPr>
            <a:lvl4pPr marL="1828800" marR="0" lvl="3"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4pPr>
            <a:lvl5pPr marL="2286000" marR="0" lvl="4"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5pPr>
            <a:lvl6pPr marL="2743200" marR="0" lvl="5"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6pPr>
            <a:lvl7pPr marL="3200400" marR="0" lvl="6"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7pPr>
            <a:lvl8pPr marL="3657600" marR="0" lvl="7"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8pPr>
            <a:lvl9pPr marL="4114800" marR="0" lvl="8"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9" name="Google Shape;9;p1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0" name="Google Shape;10;p1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1" name="Google Shape;11;p1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5" Type="http://schemas.openxmlformats.org/officeDocument/2006/relationships/image" Target="../media/image3.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8.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9.xml"/><Relationship Id="rId5" Type="http://schemas.openxmlformats.org/officeDocument/2006/relationships/image" Target="../media/image5.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10.xml"/><Relationship Id="rId5" Type="http://schemas.openxmlformats.org/officeDocument/2006/relationships/image" Target="../media/image6.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1.xml"/><Relationship Id="rId5" Type="http://schemas.openxmlformats.org/officeDocument/2006/relationships/image" Target="../media/image7.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2.xml"/><Relationship Id="rId5" Type="http://schemas.openxmlformats.org/officeDocument/2006/relationships/image" Target="../media/image8.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3.xml"/><Relationship Id="rId5" Type="http://schemas.openxmlformats.org/officeDocument/2006/relationships/image" Target="../media/image3.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4.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5.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6.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17.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8" Type="http://schemas.openxmlformats.org/officeDocument/2006/relationships/hyperlink" Target="https://cheatsheetseries.owasp.org/cheatsheets/Cryptographic_Storage_Cheat_Sheet.html" TargetMode="External"/><Relationship Id="rId13" Type="http://schemas.openxmlformats.org/officeDocument/2006/relationships/hyperlink" Target="https://www.zaproxy.org/docs/alerts/40018/" TargetMode="External"/><Relationship Id="rId3" Type="http://schemas.openxmlformats.org/officeDocument/2006/relationships/notesSlide" Target="../notesSlides/notesSlide17.xml"/><Relationship Id="rId7" Type="http://schemas.openxmlformats.org/officeDocument/2006/relationships/hyperlink" Target="https://cheatsheetseries.owasp.org/cheatsheets/Authorization_Cheat_Sheet.html" TargetMode="External"/><Relationship Id="rId12" Type="http://schemas.openxmlformats.org/officeDocument/2006/relationships/hyperlink" Target="https://cmu-sei.github.io/secure-coding-standards/sei-cert-cpp-coding-standard/rules/containers-ctr/ctr50-cpp/" TargetMode="External"/><Relationship Id="rId2" Type="http://schemas.openxmlformats.org/officeDocument/2006/relationships/slideLayout" Target="../slideLayouts/slideLayout2.xml"/><Relationship Id="rId1" Type="http://schemas.openxmlformats.org/officeDocument/2006/relationships/tags" Target="../tags/tag18.xml"/><Relationship Id="rId6" Type="http://schemas.openxmlformats.org/officeDocument/2006/relationships/hyperlink" Target="https://cheatsheetseries.owasp.org/cheatsheets/Authentication_Cheat_Sheet.html" TargetMode="External"/><Relationship Id="rId11" Type="http://schemas.openxmlformats.org/officeDocument/2006/relationships/hyperlink" Target="https://cheatsheetseries.owasp.org/cheatsheets/Transport_Layer_Security_Cheat_Sheet.html" TargetMode="External"/><Relationship Id="rId5" Type="http://schemas.openxmlformats.org/officeDocument/2006/relationships/hyperlink" Target="https://releases.llvm.org/18.1.8/tools/clang/docs/AddressSanitizer.html" TargetMode="External"/><Relationship Id="rId10" Type="http://schemas.openxmlformats.org/officeDocument/2006/relationships/hyperlink" Target="https://cheatsheetseries.owasp.org/cheatsheets/SQL_Injection_Prevention_Cheat_Sheet.html" TargetMode="External"/><Relationship Id="rId4" Type="http://schemas.openxmlformats.org/officeDocument/2006/relationships/hyperlink" Target="https://google.github.io/googletest/primer.html" TargetMode="External"/><Relationship Id="rId9" Type="http://schemas.openxmlformats.org/officeDocument/2006/relationships/hyperlink" Target="https://cheatsheetseries.owasp.org/cheatsheets/Logging_Cheat_Sheet.html" TargetMode="External"/><Relationship Id="rId1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
          <p:cNvSpPr txBox="1">
            <a:spLocks noGrp="1"/>
          </p:cNvSpPr>
          <p:nvPr>
            <p:ph type="ctrTitle"/>
          </p:nvPr>
        </p:nvSpPr>
        <p:spPr>
          <a:xfrm>
            <a:off x="1371600" y="1790153"/>
            <a:ext cx="9448800" cy="1825096"/>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6000"/>
              <a:buFont typeface="Century Gothic"/>
              <a:buNone/>
            </a:pPr>
            <a:r>
              <a:rPr lang="en-US"/>
              <a:t>Green Pace</a:t>
            </a:r>
            <a:endParaRPr/>
          </a:p>
        </p:txBody>
      </p:sp>
      <p:sp>
        <p:nvSpPr>
          <p:cNvPr id="145" name="Google Shape;145;p1"/>
          <p:cNvSpPr txBox="1">
            <a:spLocks noGrp="1"/>
          </p:cNvSpPr>
          <p:nvPr>
            <p:ph type="subTitle" idx="1"/>
          </p:nvPr>
        </p:nvSpPr>
        <p:spPr>
          <a:xfrm>
            <a:off x="1371600" y="3632200"/>
            <a:ext cx="9448800" cy="1561592"/>
          </a:xfrm>
          <a:prstGeom prst="rect">
            <a:avLst/>
          </a:prstGeom>
          <a:noFill/>
          <a:ln>
            <a:noFill/>
          </a:ln>
        </p:spPr>
        <p:txBody>
          <a:bodyPr spcFirstLastPara="1" wrap="square" lIns="91425" tIns="45700" rIns="91425" bIns="45700" anchor="t" anchorCtr="0">
            <a:normAutofit/>
          </a:bodyPr>
          <a:lstStyle/>
          <a:p>
            <a:pPr marL="0" lvl="0" indent="0" algn="l" rtl="0">
              <a:lnSpc>
                <a:spcPct val="70000"/>
              </a:lnSpc>
              <a:spcBef>
                <a:spcPts val="0"/>
              </a:spcBef>
              <a:spcAft>
                <a:spcPts val="0"/>
              </a:spcAft>
              <a:buClr>
                <a:schemeClr val="lt1"/>
              </a:buClr>
              <a:buSzPts val="1850"/>
              <a:buNone/>
            </a:pPr>
            <a:r>
              <a:rPr lang="en-US" sz="1850" dirty="0"/>
              <a:t>Security Policy Presentation</a:t>
            </a:r>
            <a:endParaRPr dirty="0"/>
          </a:p>
          <a:p>
            <a:pPr marL="0" lvl="0" indent="0" algn="l" rtl="0">
              <a:lnSpc>
                <a:spcPct val="70000"/>
              </a:lnSpc>
              <a:spcBef>
                <a:spcPts val="1000"/>
              </a:spcBef>
              <a:spcAft>
                <a:spcPts val="0"/>
              </a:spcAft>
              <a:buClr>
                <a:schemeClr val="lt1"/>
              </a:buClr>
              <a:buSzPts val="1850"/>
              <a:buNone/>
            </a:pPr>
            <a:r>
              <a:rPr lang="en-US" sz="1850" dirty="0"/>
              <a:t>Developer: </a:t>
            </a:r>
            <a:r>
              <a:rPr lang="en-US" sz="1850" i="1" dirty="0"/>
              <a:t>Blake Buhr</a:t>
            </a:r>
            <a:endParaRPr dirty="0"/>
          </a:p>
        </p:txBody>
      </p:sp>
      <p:pic>
        <p:nvPicPr>
          <p:cNvPr id="146" name="Google Shape;146;p1" descr="Green Pace logo"/>
          <p:cNvPicPr preferRelativeResize="0"/>
          <p:nvPr/>
        </p:nvPicPr>
        <p:blipFill>
          <a:blip r:embed="rId4">
            <a:alphaModFix/>
          </a:blip>
          <a:stretch>
            <a:fillRect/>
          </a:stretch>
        </p:blipFill>
        <p:spPr>
          <a:xfrm>
            <a:off x="7440774" y="659854"/>
            <a:ext cx="2921424" cy="3786772"/>
          </a:xfrm>
          <a:prstGeom prst="rect">
            <a:avLst/>
          </a:prstGeom>
          <a:noFill/>
          <a:ln>
            <a:noFill/>
          </a:ln>
        </p:spPr>
      </p:pic>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OVERVIEW: DEFENSE IN DEPTH</a:t>
            </a:r>
            <a:endParaRPr/>
          </a:p>
        </p:txBody>
      </p:sp>
      <p:sp>
        <p:nvSpPr>
          <p:cNvPr id="152" name="Google Shape;152;p3"/>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685800" lvl="0" indent="0" algn="l" rtl="0">
              <a:lnSpc>
                <a:spcPct val="90000"/>
              </a:lnSpc>
              <a:spcBef>
                <a:spcPts val="0"/>
              </a:spcBef>
              <a:spcAft>
                <a:spcPts val="0"/>
              </a:spcAft>
              <a:buSzPts val="1800"/>
              <a:buNone/>
            </a:pPr>
            <a:r>
              <a:rPr lang="en-US" sz="1600" dirty="0"/>
              <a:t>Purpose of Security Policy</a:t>
            </a:r>
          </a:p>
          <a:p>
            <a:pPr marL="971550" indent="-285750">
              <a:spcBef>
                <a:spcPts val="0"/>
              </a:spcBef>
            </a:pPr>
            <a:r>
              <a:rPr lang="en-US" sz="1600" dirty="0"/>
              <a:t>Establish consistent secure coding standards across Green Pace’s development team.</a:t>
            </a:r>
          </a:p>
          <a:p>
            <a:pPr marL="971550" indent="-285750">
              <a:spcBef>
                <a:spcPts val="0"/>
              </a:spcBef>
            </a:pPr>
            <a:r>
              <a:rPr lang="en-US" sz="1600" dirty="0"/>
              <a:t>Identify and reduce vulnerabilities through coding practices, automated analysis, and testing.</a:t>
            </a:r>
          </a:p>
          <a:p>
            <a:pPr marL="971550" indent="-285750">
              <a:spcBef>
                <a:spcPts val="0"/>
              </a:spcBef>
            </a:pPr>
            <a:r>
              <a:rPr lang="en-US" sz="1600" dirty="0"/>
              <a:t>Apply defense in depth by combining multiple security controls rather than relying on a single protection.</a:t>
            </a:r>
          </a:p>
          <a:p>
            <a:pPr marL="971550" indent="-285750">
              <a:spcBef>
                <a:spcPts val="0"/>
              </a:spcBef>
            </a:pPr>
            <a:r>
              <a:rPr lang="en-US" sz="1600" dirty="0"/>
              <a:t>Standardize security expectations to support compliance, accountability, and future development.</a:t>
            </a:r>
            <a:endParaRPr sz="1600" dirty="0"/>
          </a:p>
          <a:p>
            <a:pPr marL="0" lvl="0" indent="0" algn="l" rtl="0">
              <a:lnSpc>
                <a:spcPct val="90000"/>
              </a:lnSpc>
              <a:spcBef>
                <a:spcPts val="1000"/>
              </a:spcBef>
              <a:spcAft>
                <a:spcPts val="0"/>
              </a:spcAft>
              <a:buClr>
                <a:schemeClr val="lt1"/>
              </a:buClr>
              <a:buSzPts val="2200"/>
              <a:buNone/>
            </a:pPr>
            <a:endParaRPr dirty="0"/>
          </a:p>
        </p:txBody>
      </p:sp>
      <p:pic>
        <p:nvPicPr>
          <p:cNvPr id="153" name="Google Shape;153;p3" descr="NHS (Healthcare) Defense in Depth – Shaun Van Niekerk&#10;Screenshot of defense-in-depth best practice of layered security.  This illustration provides a visual representation of the defense-in-depth best practice of layered security.&#10;Shows the following layers of developer defense: Physical security, Cloud security, Perimeter security, network security, Host security, Endpoint security, APP security and critical assets, systems, and data security."/>
          <p:cNvPicPr preferRelativeResize="0"/>
          <p:nvPr/>
        </p:nvPicPr>
        <p:blipFill rotWithShape="1">
          <a:blip r:embed="rId4">
            <a:alphaModFix/>
          </a:blip>
          <a:srcRect/>
          <a:stretch/>
        </p:blipFill>
        <p:spPr>
          <a:xfrm>
            <a:off x="4047244" y="3545920"/>
            <a:ext cx="6056876" cy="3043831"/>
          </a:xfrm>
          <a:prstGeom prst="rect">
            <a:avLst/>
          </a:prstGeom>
          <a:noFill/>
          <a:ln>
            <a:noFill/>
          </a:ln>
        </p:spPr>
      </p:pic>
      <p:pic>
        <p:nvPicPr>
          <p:cNvPr id="154" name="Google Shape;154;p3" descr="Green Pace logo"/>
          <p:cNvPicPr preferRelativeResize="0"/>
          <p:nvPr/>
        </p:nvPicPr>
        <p:blipFill>
          <a:blip r:embed="rId5">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THREATS MATRIX</a:t>
            </a:r>
            <a:endParaRPr/>
          </a:p>
        </p:txBody>
      </p:sp>
      <p:sp>
        <p:nvSpPr>
          <p:cNvPr id="160" name="Google Shape;160;p4"/>
          <p:cNvSpPr txBox="1">
            <a:spLocks noGrp="1"/>
          </p:cNvSpPr>
          <p:nvPr>
            <p:ph type="body" idx="1"/>
          </p:nvPr>
        </p:nvSpPr>
        <p:spPr>
          <a:xfrm>
            <a:off x="685800" y="2194550"/>
            <a:ext cx="2486100" cy="4024200"/>
          </a:xfrm>
          <a:prstGeom prst="rect">
            <a:avLst/>
          </a:prstGeom>
          <a:noFill/>
          <a:ln>
            <a:noFill/>
          </a:ln>
        </p:spPr>
        <p:txBody>
          <a:bodyPr spcFirstLastPara="1" wrap="square" lIns="91425" tIns="45700" rIns="91425" bIns="45700" anchor="t" anchorCtr="0">
            <a:normAutofit/>
          </a:bodyPr>
          <a:lstStyle/>
          <a:p>
            <a:pPr marL="228600" lvl="0" indent="0" algn="l" rtl="0">
              <a:lnSpc>
                <a:spcPct val="107916"/>
              </a:lnSpc>
              <a:spcBef>
                <a:spcPts val="0"/>
              </a:spcBef>
              <a:spcAft>
                <a:spcPts val="0"/>
              </a:spcAft>
              <a:buSzPts val="1800"/>
              <a:buNone/>
            </a:pPr>
            <a:endParaRPr sz="2000" dirty="0"/>
          </a:p>
          <a:p>
            <a:pPr marL="228600" lvl="0" indent="-88900" algn="l" rtl="0">
              <a:lnSpc>
                <a:spcPct val="90000"/>
              </a:lnSpc>
              <a:spcBef>
                <a:spcPts val="1000"/>
              </a:spcBef>
              <a:spcAft>
                <a:spcPts val="0"/>
              </a:spcAft>
              <a:buClr>
                <a:schemeClr val="lt1"/>
              </a:buClr>
              <a:buSzPts val="2200"/>
              <a:buNone/>
            </a:pPr>
            <a:endParaRPr dirty="0"/>
          </a:p>
        </p:txBody>
      </p:sp>
      <p:graphicFrame>
        <p:nvGraphicFramePr>
          <p:cNvPr id="161" name="Google Shape;161;p4" descr="Alt text required"/>
          <p:cNvGraphicFramePr/>
          <p:nvPr>
            <p:extLst>
              <p:ext uri="{D42A27DB-BD31-4B8C-83A1-F6EECF244321}">
                <p14:modId xmlns:p14="http://schemas.microsoft.com/office/powerpoint/2010/main" val="2724600968"/>
              </p:ext>
            </p:extLst>
          </p:nvPr>
        </p:nvGraphicFramePr>
        <p:xfrm>
          <a:off x="1584960" y="1737360"/>
          <a:ext cx="9422165" cy="4970425"/>
        </p:xfrm>
        <a:graphic>
          <a:graphicData uri="http://schemas.openxmlformats.org/drawingml/2006/table">
            <a:tbl>
              <a:tblPr firstRow="1" firstCol="1">
                <a:noFill/>
                <a:tableStyleId>{802198C4-3087-4945-87E3-76CBB3509B7E}</a:tableStyleId>
              </a:tblPr>
              <a:tblGrid>
                <a:gridCol w="4846744">
                  <a:extLst>
                    <a:ext uri="{9D8B030D-6E8A-4147-A177-3AD203B41FA5}">
                      <a16:colId xmlns:a16="http://schemas.microsoft.com/office/drawing/2014/main" val="20000"/>
                    </a:ext>
                  </a:extLst>
                </a:gridCol>
                <a:gridCol w="4575421">
                  <a:extLst>
                    <a:ext uri="{9D8B030D-6E8A-4147-A177-3AD203B41FA5}">
                      <a16:colId xmlns:a16="http://schemas.microsoft.com/office/drawing/2014/main" val="20001"/>
                    </a:ext>
                  </a:extLst>
                </a:gridCol>
              </a:tblGrid>
              <a:tr h="2849649">
                <a:tc>
                  <a:txBody>
                    <a:bodyPr/>
                    <a:lstStyle/>
                    <a:p>
                      <a:pPr marL="0" marR="0" lvl="0" indent="0" algn="ctr" rtl="0">
                        <a:lnSpc>
                          <a:spcPct val="100000"/>
                        </a:lnSpc>
                        <a:spcBef>
                          <a:spcPts val="0"/>
                        </a:spcBef>
                        <a:spcAft>
                          <a:spcPts val="0"/>
                        </a:spcAft>
                        <a:buClr>
                          <a:srgbClr val="000000"/>
                        </a:buClr>
                        <a:buSzPts val="3600"/>
                        <a:buFont typeface="Arial"/>
                        <a:buNone/>
                      </a:pPr>
                      <a:r>
                        <a:rPr lang="en-US" sz="1600" u="none" strike="noStrike" cap="none" dirty="0">
                          <a:solidFill>
                            <a:srgbClr val="FFD966"/>
                          </a:solidFill>
                        </a:rPr>
                        <a:t>Likely</a:t>
                      </a:r>
                      <a:endParaRPr sz="1600" u="none" strike="noStrike" cap="none" dirty="0"/>
                    </a:p>
                    <a:p>
                      <a:pPr marL="0" marR="0" lvl="0" indent="0" algn="ctr" rtl="0">
                        <a:lnSpc>
                          <a:spcPct val="100000"/>
                        </a:lnSpc>
                        <a:spcBef>
                          <a:spcPts val="0"/>
                        </a:spcBef>
                        <a:spcAft>
                          <a:spcPts val="0"/>
                        </a:spcAft>
                        <a:buClr>
                          <a:srgbClr val="000000"/>
                        </a:buClr>
                        <a:buSzPts val="3600"/>
                        <a:buFont typeface="Arial"/>
                        <a:buNone/>
                      </a:pPr>
                      <a:r>
                        <a:rPr lang="en-US" sz="1600" u="none" strike="noStrike" cap="none" dirty="0">
                          <a:solidFill>
                            <a:srgbClr val="FFD966"/>
                          </a:solidFill>
                        </a:rPr>
                        <a:t>STD-003 – Buffer overflow</a:t>
                      </a:r>
                    </a:p>
                    <a:p>
                      <a:pPr marL="0" marR="0" lvl="0" indent="0" algn="ctr" rtl="0">
                        <a:lnSpc>
                          <a:spcPct val="100000"/>
                        </a:lnSpc>
                        <a:spcBef>
                          <a:spcPts val="0"/>
                        </a:spcBef>
                        <a:spcAft>
                          <a:spcPts val="0"/>
                        </a:spcAft>
                        <a:buClr>
                          <a:srgbClr val="000000"/>
                        </a:buClr>
                        <a:buSzPts val="3600"/>
                        <a:buFont typeface="Arial"/>
                        <a:buNone/>
                      </a:pPr>
                      <a:r>
                        <a:rPr lang="en-US" sz="1600" u="none" strike="noStrike" cap="none" dirty="0">
                          <a:solidFill>
                            <a:srgbClr val="FFD966"/>
                          </a:solidFill>
                        </a:rPr>
                        <a:t>STD-004 – SQL Injection</a:t>
                      </a:r>
                    </a:p>
                    <a:p>
                      <a:pPr marL="0" marR="0" lvl="0" indent="0" algn="ctr" rtl="0">
                        <a:lnSpc>
                          <a:spcPct val="100000"/>
                        </a:lnSpc>
                        <a:spcBef>
                          <a:spcPts val="0"/>
                        </a:spcBef>
                        <a:spcAft>
                          <a:spcPts val="0"/>
                        </a:spcAft>
                        <a:buClr>
                          <a:srgbClr val="000000"/>
                        </a:buClr>
                        <a:buSzPts val="3600"/>
                        <a:buFont typeface="Arial"/>
                        <a:buNone/>
                      </a:pPr>
                      <a:r>
                        <a:rPr lang="en-US" sz="1600" u="none" strike="noStrike" cap="none" dirty="0">
                          <a:solidFill>
                            <a:srgbClr val="FFD966"/>
                          </a:solidFill>
                        </a:rPr>
                        <a:t>STD-010 – Container bounds</a:t>
                      </a:r>
                    </a:p>
                    <a:p>
                      <a:pPr marL="0" marR="0" lvl="0" indent="0" algn="ctr" rtl="0">
                        <a:lnSpc>
                          <a:spcPct val="100000"/>
                        </a:lnSpc>
                        <a:spcBef>
                          <a:spcPts val="0"/>
                        </a:spcBef>
                        <a:spcAft>
                          <a:spcPts val="0"/>
                        </a:spcAft>
                        <a:buClr>
                          <a:srgbClr val="000000"/>
                        </a:buClr>
                        <a:buSzPts val="3600"/>
                        <a:buFont typeface="Arial"/>
                        <a:buNone/>
                      </a:pPr>
                      <a:endParaRPr lang="en-US" sz="1600" u="none" strike="noStrike" cap="none" dirty="0">
                        <a:solidFill>
                          <a:srgbClr val="FFD966"/>
                        </a:solidFill>
                      </a:endParaRPr>
                    </a:p>
                    <a:p>
                      <a:pPr marL="0" marR="0" lvl="0" indent="0" algn="ctr" rtl="0">
                        <a:lnSpc>
                          <a:spcPct val="100000"/>
                        </a:lnSpc>
                        <a:spcBef>
                          <a:spcPts val="0"/>
                        </a:spcBef>
                        <a:spcAft>
                          <a:spcPts val="0"/>
                        </a:spcAft>
                        <a:buClr>
                          <a:srgbClr val="000000"/>
                        </a:buClr>
                        <a:buSzPts val="3600"/>
                        <a:buFont typeface="Arial"/>
                        <a:buNone/>
                      </a:pPr>
                      <a:r>
                        <a:rPr lang="en-US" sz="1600" u="none" strike="noStrike" cap="none" dirty="0">
                          <a:solidFill>
                            <a:srgbClr val="FFD966"/>
                          </a:solidFill>
                        </a:rPr>
                        <a:t>P18 – level 1</a:t>
                      </a:r>
                      <a:endParaRPr sz="1600" u="none" strike="noStrike" cap="none" dirty="0">
                        <a:solidFill>
                          <a:srgbClr val="FFD966"/>
                        </a:solidFill>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tc>
                  <a:txBody>
                    <a:bodyPr/>
                    <a:lstStyle/>
                    <a:p>
                      <a:pPr marL="0" marR="0" lvl="0" indent="0" algn="ctr" rtl="0">
                        <a:lnSpc>
                          <a:spcPct val="100000"/>
                        </a:lnSpc>
                        <a:spcBef>
                          <a:spcPts val="0"/>
                        </a:spcBef>
                        <a:spcAft>
                          <a:spcPts val="0"/>
                        </a:spcAft>
                        <a:buClr>
                          <a:srgbClr val="000000"/>
                        </a:buClr>
                        <a:buSzPts val="3600"/>
                        <a:buFont typeface="Arial"/>
                        <a:buNone/>
                      </a:pPr>
                      <a:r>
                        <a:rPr lang="en-US" sz="1600" u="none" strike="noStrike" cap="none" dirty="0">
                          <a:solidFill>
                            <a:srgbClr val="FFD966"/>
                          </a:solidFill>
                        </a:rPr>
                        <a:t>Priority</a:t>
                      </a:r>
                      <a:endParaRPr sz="1600" u="none" strike="noStrike" cap="none" dirty="0"/>
                    </a:p>
                    <a:p>
                      <a:pPr marL="0" marR="0" lvl="0" indent="0" algn="ctr" rtl="0">
                        <a:lnSpc>
                          <a:spcPct val="100000"/>
                        </a:lnSpc>
                        <a:spcBef>
                          <a:spcPts val="0"/>
                        </a:spcBef>
                        <a:spcAft>
                          <a:spcPts val="0"/>
                        </a:spcAft>
                        <a:buClr>
                          <a:srgbClr val="000000"/>
                        </a:buClr>
                        <a:buSzPts val="3600"/>
                        <a:buFont typeface="Arial"/>
                        <a:buNone/>
                      </a:pPr>
                      <a:r>
                        <a:rPr lang="en-US" sz="1600" u="none" strike="noStrike" cap="none" dirty="0">
                          <a:solidFill>
                            <a:srgbClr val="FFD966"/>
                          </a:solidFill>
                        </a:rPr>
                        <a:t>STD-001 – integer types</a:t>
                      </a:r>
                    </a:p>
                    <a:p>
                      <a:pPr marL="0" marR="0" lvl="0" indent="0" algn="ctr" rtl="0">
                        <a:lnSpc>
                          <a:spcPct val="100000"/>
                        </a:lnSpc>
                        <a:spcBef>
                          <a:spcPts val="0"/>
                        </a:spcBef>
                        <a:spcAft>
                          <a:spcPts val="0"/>
                        </a:spcAft>
                        <a:buClr>
                          <a:srgbClr val="000000"/>
                        </a:buClr>
                        <a:buSzPts val="3600"/>
                        <a:buFont typeface="Arial"/>
                        <a:buNone/>
                      </a:pPr>
                      <a:r>
                        <a:rPr lang="en-US" sz="1600" u="none" strike="noStrike" cap="none" dirty="0">
                          <a:solidFill>
                            <a:srgbClr val="FFD966"/>
                          </a:solidFill>
                        </a:rPr>
                        <a:t>STD-002 – Integer range</a:t>
                      </a:r>
                    </a:p>
                    <a:p>
                      <a:pPr marL="0" marR="0" lvl="0" indent="0" algn="ctr" rtl="0">
                        <a:lnSpc>
                          <a:spcPct val="100000"/>
                        </a:lnSpc>
                        <a:spcBef>
                          <a:spcPts val="0"/>
                        </a:spcBef>
                        <a:spcAft>
                          <a:spcPts val="0"/>
                        </a:spcAft>
                        <a:buClr>
                          <a:srgbClr val="000000"/>
                        </a:buClr>
                        <a:buSzPts val="3600"/>
                        <a:buFont typeface="Arial"/>
                        <a:buNone/>
                      </a:pPr>
                      <a:r>
                        <a:rPr lang="en-US" sz="1600" u="none" strike="noStrike" cap="none" dirty="0">
                          <a:solidFill>
                            <a:srgbClr val="FFD966"/>
                          </a:solidFill>
                        </a:rPr>
                        <a:t>STD-005 – User-after-free</a:t>
                      </a:r>
                    </a:p>
                    <a:p>
                      <a:pPr marL="0" marR="0" lvl="0" indent="0" algn="ctr" rtl="0">
                        <a:lnSpc>
                          <a:spcPct val="100000"/>
                        </a:lnSpc>
                        <a:spcBef>
                          <a:spcPts val="0"/>
                        </a:spcBef>
                        <a:spcAft>
                          <a:spcPts val="0"/>
                        </a:spcAft>
                        <a:buClr>
                          <a:srgbClr val="000000"/>
                        </a:buClr>
                        <a:buSzPts val="3600"/>
                        <a:buFont typeface="Arial"/>
                        <a:buNone/>
                      </a:pPr>
                      <a:r>
                        <a:rPr lang="en-US" sz="1600" u="none" strike="noStrike" cap="none" dirty="0">
                          <a:solidFill>
                            <a:srgbClr val="FFD966"/>
                          </a:solidFill>
                        </a:rPr>
                        <a:t>STD-006 – Assertions</a:t>
                      </a:r>
                    </a:p>
                    <a:p>
                      <a:pPr marL="0" marR="0" lvl="0" indent="0" algn="ctr" rtl="0">
                        <a:lnSpc>
                          <a:spcPct val="100000"/>
                        </a:lnSpc>
                        <a:spcBef>
                          <a:spcPts val="0"/>
                        </a:spcBef>
                        <a:spcAft>
                          <a:spcPts val="0"/>
                        </a:spcAft>
                        <a:buClr>
                          <a:srgbClr val="000000"/>
                        </a:buClr>
                        <a:buSzPts val="3600"/>
                        <a:buFont typeface="Arial"/>
                        <a:buNone/>
                      </a:pPr>
                      <a:r>
                        <a:rPr lang="en-US" sz="1600" u="none" strike="noStrike" cap="none" dirty="0">
                          <a:solidFill>
                            <a:srgbClr val="FFD966"/>
                          </a:solidFill>
                        </a:rPr>
                        <a:t>STD-008 – Expressions</a:t>
                      </a:r>
                    </a:p>
                    <a:p>
                      <a:pPr marL="0" marR="0" lvl="0" indent="0" algn="ctr" rtl="0">
                        <a:lnSpc>
                          <a:spcPct val="100000"/>
                        </a:lnSpc>
                        <a:spcBef>
                          <a:spcPts val="0"/>
                        </a:spcBef>
                        <a:spcAft>
                          <a:spcPts val="0"/>
                        </a:spcAft>
                        <a:buClr>
                          <a:srgbClr val="000000"/>
                        </a:buClr>
                        <a:buSzPts val="3600"/>
                        <a:buFont typeface="Arial"/>
                        <a:buNone/>
                      </a:pPr>
                      <a:r>
                        <a:rPr lang="en-US" sz="1600" u="none" strike="noStrike" cap="none" dirty="0">
                          <a:solidFill>
                            <a:srgbClr val="FFD966"/>
                          </a:solidFill>
                        </a:rPr>
                        <a:t>STD-009 – Uninitialized memory</a:t>
                      </a:r>
                    </a:p>
                    <a:p>
                      <a:pPr marL="0" marR="0" lvl="0" indent="0" algn="ctr" rtl="0">
                        <a:lnSpc>
                          <a:spcPct val="100000"/>
                        </a:lnSpc>
                        <a:spcBef>
                          <a:spcPts val="0"/>
                        </a:spcBef>
                        <a:spcAft>
                          <a:spcPts val="0"/>
                        </a:spcAft>
                        <a:buClr>
                          <a:srgbClr val="000000"/>
                        </a:buClr>
                        <a:buSzPts val="3600"/>
                        <a:buFont typeface="Arial"/>
                        <a:buNone/>
                      </a:pPr>
                      <a:endParaRPr lang="en-US" sz="1600" u="none" strike="noStrike" cap="none" dirty="0">
                        <a:solidFill>
                          <a:srgbClr val="FFD966"/>
                        </a:solidFill>
                      </a:endParaRPr>
                    </a:p>
                    <a:p>
                      <a:pPr marL="0" marR="0" lvl="0" indent="0" algn="ctr" rtl="0">
                        <a:lnSpc>
                          <a:spcPct val="100000"/>
                        </a:lnSpc>
                        <a:spcBef>
                          <a:spcPts val="0"/>
                        </a:spcBef>
                        <a:spcAft>
                          <a:spcPts val="0"/>
                        </a:spcAft>
                        <a:buClr>
                          <a:srgbClr val="000000"/>
                        </a:buClr>
                        <a:buSzPts val="3600"/>
                        <a:buFont typeface="Arial"/>
                        <a:buNone/>
                      </a:pPr>
                      <a:r>
                        <a:rPr lang="en-US" sz="1600" u="none" strike="noStrike" cap="none" dirty="0">
                          <a:solidFill>
                            <a:srgbClr val="FFD966"/>
                          </a:solidFill>
                        </a:rPr>
                        <a:t>P12 – Level 1</a:t>
                      </a:r>
                      <a:endParaRPr sz="1600" u="none" strike="noStrike" cap="none" dirty="0"/>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extLst>
                  <a:ext uri="{0D108BD9-81ED-4DB2-BD59-A6C34878D82A}">
                    <a16:rowId xmlns:a16="http://schemas.microsoft.com/office/drawing/2014/main" val="10000"/>
                  </a:ext>
                </a:extLst>
              </a:tr>
              <a:tr h="2120776">
                <a:tc>
                  <a:txBody>
                    <a:bodyPr/>
                    <a:lstStyle/>
                    <a:p>
                      <a:pPr marL="0" marR="0" lvl="0" indent="0" algn="ctr" rtl="0">
                        <a:lnSpc>
                          <a:spcPct val="100000"/>
                        </a:lnSpc>
                        <a:spcBef>
                          <a:spcPts val="0"/>
                        </a:spcBef>
                        <a:spcAft>
                          <a:spcPts val="0"/>
                        </a:spcAft>
                        <a:buClr>
                          <a:srgbClr val="000000"/>
                        </a:buClr>
                        <a:buSzPts val="3600"/>
                        <a:buFont typeface="Arial"/>
                        <a:buNone/>
                      </a:pPr>
                      <a:r>
                        <a:rPr lang="en-US" sz="1600" u="none" strike="noStrike" cap="none" dirty="0">
                          <a:solidFill>
                            <a:srgbClr val="FFD966"/>
                          </a:solidFill>
                        </a:rPr>
                        <a:t>Low priority</a:t>
                      </a:r>
                      <a:endParaRPr sz="1600" u="none" strike="noStrike" cap="none" dirty="0"/>
                    </a:p>
                    <a:p>
                      <a:pPr marL="0" marR="0" lvl="0" indent="0" algn="ctr" rtl="0">
                        <a:lnSpc>
                          <a:spcPct val="100000"/>
                        </a:lnSpc>
                        <a:spcBef>
                          <a:spcPts val="0"/>
                        </a:spcBef>
                        <a:spcAft>
                          <a:spcPts val="0"/>
                        </a:spcAft>
                        <a:buClr>
                          <a:srgbClr val="000000"/>
                        </a:buClr>
                        <a:buSzPts val="3600"/>
                        <a:buFont typeface="Arial"/>
                        <a:buNone/>
                      </a:pPr>
                      <a:r>
                        <a:rPr lang="en-US" sz="1600" u="none" strike="noStrike" cap="none" dirty="0">
                          <a:solidFill>
                            <a:srgbClr val="FFD966"/>
                          </a:solidFill>
                        </a:rPr>
                        <a:t>STD-007 – Exception handling</a:t>
                      </a:r>
                    </a:p>
                    <a:p>
                      <a:pPr marL="0" marR="0" lvl="0" indent="0" algn="ctr" rtl="0">
                        <a:lnSpc>
                          <a:spcPct val="100000"/>
                        </a:lnSpc>
                        <a:spcBef>
                          <a:spcPts val="0"/>
                        </a:spcBef>
                        <a:spcAft>
                          <a:spcPts val="0"/>
                        </a:spcAft>
                        <a:buClr>
                          <a:srgbClr val="000000"/>
                        </a:buClr>
                        <a:buSzPts val="3600"/>
                        <a:buFont typeface="Arial"/>
                        <a:buNone/>
                      </a:pPr>
                      <a:endParaRPr lang="en-US" sz="1600" u="none" strike="noStrike" cap="none" dirty="0">
                        <a:solidFill>
                          <a:srgbClr val="FFD966"/>
                        </a:solidFill>
                      </a:endParaRPr>
                    </a:p>
                    <a:p>
                      <a:pPr marL="0" marR="0" lvl="0" indent="0" algn="ctr" rtl="0">
                        <a:lnSpc>
                          <a:spcPct val="100000"/>
                        </a:lnSpc>
                        <a:spcBef>
                          <a:spcPts val="0"/>
                        </a:spcBef>
                        <a:spcAft>
                          <a:spcPts val="0"/>
                        </a:spcAft>
                        <a:buClr>
                          <a:srgbClr val="000000"/>
                        </a:buClr>
                        <a:buSzPts val="3600"/>
                        <a:buFont typeface="Arial"/>
                        <a:buNone/>
                      </a:pPr>
                      <a:endParaRPr lang="en-US" sz="1600" u="none" strike="noStrike" cap="none" dirty="0">
                        <a:solidFill>
                          <a:srgbClr val="FFD966"/>
                        </a:solidFill>
                      </a:endParaRPr>
                    </a:p>
                    <a:p>
                      <a:pPr marL="0" marR="0" lvl="0" indent="0" algn="ctr" rtl="0">
                        <a:lnSpc>
                          <a:spcPct val="100000"/>
                        </a:lnSpc>
                        <a:spcBef>
                          <a:spcPts val="0"/>
                        </a:spcBef>
                        <a:spcAft>
                          <a:spcPts val="0"/>
                        </a:spcAft>
                        <a:buClr>
                          <a:srgbClr val="000000"/>
                        </a:buClr>
                        <a:buSzPts val="3600"/>
                        <a:buFont typeface="Arial"/>
                        <a:buNone/>
                      </a:pPr>
                      <a:r>
                        <a:rPr lang="en-US" sz="1600" u="none" strike="noStrike" cap="none" dirty="0">
                          <a:solidFill>
                            <a:srgbClr val="FFD966"/>
                          </a:solidFill>
                        </a:rPr>
                        <a:t>P8 – Level 2</a:t>
                      </a:r>
                      <a:endParaRPr sz="1600" u="none" strike="noStrike" cap="none" dirty="0"/>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tc>
                  <a:txBody>
                    <a:bodyPr/>
                    <a:lstStyle/>
                    <a:p>
                      <a:pPr marL="0" marR="0" lvl="0" indent="0" algn="ctr" rtl="0">
                        <a:lnSpc>
                          <a:spcPct val="100000"/>
                        </a:lnSpc>
                        <a:spcBef>
                          <a:spcPts val="0"/>
                        </a:spcBef>
                        <a:spcAft>
                          <a:spcPts val="0"/>
                        </a:spcAft>
                        <a:buClr>
                          <a:srgbClr val="000000"/>
                        </a:buClr>
                        <a:buSzPts val="3600"/>
                        <a:buFont typeface="Arial"/>
                        <a:buNone/>
                      </a:pPr>
                      <a:r>
                        <a:rPr lang="en-US" sz="1600" u="none" strike="noStrike" cap="none" dirty="0">
                          <a:solidFill>
                            <a:srgbClr val="FFD966"/>
                          </a:solidFill>
                        </a:rPr>
                        <a:t>Unlikely</a:t>
                      </a:r>
                      <a:endParaRPr sz="1600" u="none" strike="noStrike" cap="none" dirty="0"/>
                    </a:p>
                    <a:p>
                      <a:pPr marL="0" marR="0" lvl="0" indent="0" algn="ctr" rtl="0">
                        <a:lnSpc>
                          <a:spcPct val="100000"/>
                        </a:lnSpc>
                        <a:spcBef>
                          <a:spcPts val="0"/>
                        </a:spcBef>
                        <a:spcAft>
                          <a:spcPts val="0"/>
                        </a:spcAft>
                        <a:buClr>
                          <a:srgbClr val="000000"/>
                        </a:buClr>
                        <a:buSzPts val="3600"/>
                        <a:buFont typeface="Arial"/>
                        <a:buNone/>
                      </a:pPr>
                      <a:r>
                        <a:rPr lang="en-US" sz="1600" u="none" strike="noStrike" cap="none" dirty="0">
                          <a:solidFill>
                            <a:srgbClr val="FFD966"/>
                          </a:solidFill>
                        </a:rPr>
                        <a:t>No standards currently assess as unlikely</a:t>
                      </a:r>
                      <a:endParaRPr sz="1600" u="none" strike="noStrike" cap="none" dirty="0"/>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extLst>
                  <a:ext uri="{0D108BD9-81ED-4DB2-BD59-A6C34878D82A}">
                    <a16:rowId xmlns:a16="http://schemas.microsoft.com/office/drawing/2014/main" val="10001"/>
                  </a:ext>
                </a:extLst>
              </a:tr>
            </a:tbl>
          </a:graphicData>
        </a:graphic>
      </p:graphicFrame>
      <p:pic>
        <p:nvPicPr>
          <p:cNvPr id="162" name="Google Shape;162;p4"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10 PRINCIPLES</a:t>
            </a:r>
            <a:endParaRPr/>
          </a:p>
        </p:txBody>
      </p:sp>
      <p:pic>
        <p:nvPicPr>
          <p:cNvPr id="169" name="Google Shape;169;p5"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graphicFrame>
        <p:nvGraphicFramePr>
          <p:cNvPr id="3" name="Table 2">
            <a:extLst>
              <a:ext uri="{FF2B5EF4-FFF2-40B4-BE49-F238E27FC236}">
                <a16:creationId xmlns:a16="http://schemas.microsoft.com/office/drawing/2014/main" id="{5B1AE7BC-E116-FD75-19F3-A74410013A85}"/>
              </a:ext>
            </a:extLst>
          </p:cNvPr>
          <p:cNvGraphicFramePr>
            <a:graphicFrameLocks noGrp="1"/>
          </p:cNvGraphicFramePr>
          <p:nvPr>
            <p:extLst>
              <p:ext uri="{D42A27DB-BD31-4B8C-83A1-F6EECF244321}">
                <p14:modId xmlns:p14="http://schemas.microsoft.com/office/powerpoint/2010/main" val="68938559"/>
              </p:ext>
            </p:extLst>
          </p:nvPr>
        </p:nvGraphicFramePr>
        <p:xfrm>
          <a:off x="1590040" y="1905000"/>
          <a:ext cx="8128000" cy="3779520"/>
        </p:xfrm>
        <a:graphic>
          <a:graphicData uri="http://schemas.openxmlformats.org/drawingml/2006/table">
            <a:tbl>
              <a:tblPr firstRow="1" bandRow="1">
                <a:tableStyleId>{802198C4-3087-4945-87E3-76CBB3509B7E}</a:tableStyleId>
              </a:tblPr>
              <a:tblGrid>
                <a:gridCol w="4064000">
                  <a:extLst>
                    <a:ext uri="{9D8B030D-6E8A-4147-A177-3AD203B41FA5}">
                      <a16:colId xmlns:a16="http://schemas.microsoft.com/office/drawing/2014/main" val="2879303091"/>
                    </a:ext>
                  </a:extLst>
                </a:gridCol>
                <a:gridCol w="4064000">
                  <a:extLst>
                    <a:ext uri="{9D8B030D-6E8A-4147-A177-3AD203B41FA5}">
                      <a16:colId xmlns:a16="http://schemas.microsoft.com/office/drawing/2014/main" val="2215642941"/>
                    </a:ext>
                  </a:extLst>
                </a:gridCol>
              </a:tblGrid>
              <a:tr h="228600">
                <a:tc>
                  <a:txBody>
                    <a:bodyPr/>
                    <a:lstStyle/>
                    <a:p>
                      <a:r>
                        <a:rPr lang="en-US" sz="1600" dirty="0">
                          <a:solidFill>
                            <a:schemeClr val="bg1"/>
                          </a:solidFill>
                        </a:rPr>
                        <a:t>Security principle</a:t>
                      </a:r>
                    </a:p>
                  </a:txBody>
                  <a:tcPr/>
                </a:tc>
                <a:tc>
                  <a:txBody>
                    <a:bodyPr/>
                    <a:lstStyle/>
                    <a:p>
                      <a:r>
                        <a:rPr lang="en-US" sz="1600" dirty="0">
                          <a:solidFill>
                            <a:schemeClr val="bg1"/>
                          </a:solidFill>
                        </a:rPr>
                        <a:t>Applicable standards</a:t>
                      </a:r>
                    </a:p>
                  </a:txBody>
                  <a:tcPr/>
                </a:tc>
                <a:extLst>
                  <a:ext uri="{0D108BD9-81ED-4DB2-BD59-A6C34878D82A}">
                    <a16:rowId xmlns:a16="http://schemas.microsoft.com/office/drawing/2014/main" val="3398534872"/>
                  </a:ext>
                </a:extLst>
              </a:tr>
              <a:tr h="274320">
                <a:tc>
                  <a:txBody>
                    <a:bodyPr/>
                    <a:lstStyle/>
                    <a:p>
                      <a:r>
                        <a:rPr lang="en-US" sz="1600" dirty="0">
                          <a:solidFill>
                            <a:schemeClr val="bg1"/>
                          </a:solidFill>
                        </a:rPr>
                        <a:t>1. Validate input data</a:t>
                      </a:r>
                    </a:p>
                  </a:txBody>
                  <a:tcPr/>
                </a:tc>
                <a:tc>
                  <a:txBody>
                    <a:bodyPr/>
                    <a:lstStyle/>
                    <a:p>
                      <a:r>
                        <a:rPr lang="en-US" sz="1600" dirty="0">
                          <a:solidFill>
                            <a:schemeClr val="bg1"/>
                          </a:solidFill>
                        </a:rPr>
                        <a:t>STD-002, 003, 006, 010</a:t>
                      </a:r>
                    </a:p>
                  </a:txBody>
                  <a:tcPr/>
                </a:tc>
                <a:extLst>
                  <a:ext uri="{0D108BD9-81ED-4DB2-BD59-A6C34878D82A}">
                    <a16:rowId xmlns:a16="http://schemas.microsoft.com/office/drawing/2014/main" val="537144367"/>
                  </a:ext>
                </a:extLst>
              </a:tr>
              <a:tr h="259080">
                <a:tc>
                  <a:txBody>
                    <a:bodyPr/>
                    <a:lstStyle/>
                    <a:p>
                      <a:r>
                        <a:rPr lang="en-US" sz="1600" dirty="0">
                          <a:solidFill>
                            <a:schemeClr val="bg1"/>
                          </a:solidFill>
                        </a:rPr>
                        <a:t>2. Heed compiler warnings</a:t>
                      </a:r>
                    </a:p>
                  </a:txBody>
                  <a:tcPr/>
                </a:tc>
                <a:tc>
                  <a:txBody>
                    <a:bodyPr/>
                    <a:lstStyle/>
                    <a:p>
                      <a:r>
                        <a:rPr lang="en-US" sz="1600" dirty="0">
                          <a:solidFill>
                            <a:schemeClr val="bg1"/>
                          </a:solidFill>
                        </a:rPr>
                        <a:t>STD-001, 008, 009</a:t>
                      </a:r>
                    </a:p>
                  </a:txBody>
                  <a:tcPr/>
                </a:tc>
                <a:extLst>
                  <a:ext uri="{0D108BD9-81ED-4DB2-BD59-A6C34878D82A}">
                    <a16:rowId xmlns:a16="http://schemas.microsoft.com/office/drawing/2014/main" val="4045044332"/>
                  </a:ext>
                </a:extLst>
              </a:tr>
              <a:tr h="381000">
                <a:tc>
                  <a:txBody>
                    <a:bodyPr/>
                    <a:lstStyle/>
                    <a:p>
                      <a:r>
                        <a:rPr lang="en-US" sz="1600" dirty="0">
                          <a:solidFill>
                            <a:schemeClr val="bg1"/>
                          </a:solidFill>
                        </a:rPr>
                        <a:t>3. Architect and design for security policies</a:t>
                      </a:r>
                    </a:p>
                  </a:txBody>
                  <a:tcPr/>
                </a:tc>
                <a:tc>
                  <a:txBody>
                    <a:bodyPr/>
                    <a:lstStyle/>
                    <a:p>
                      <a:r>
                        <a:rPr lang="en-US" sz="1600" dirty="0">
                          <a:solidFill>
                            <a:schemeClr val="bg1"/>
                          </a:solidFill>
                        </a:rPr>
                        <a:t>STD-005, 007</a:t>
                      </a:r>
                    </a:p>
                  </a:txBody>
                  <a:tcPr/>
                </a:tc>
                <a:extLst>
                  <a:ext uri="{0D108BD9-81ED-4DB2-BD59-A6C34878D82A}">
                    <a16:rowId xmlns:a16="http://schemas.microsoft.com/office/drawing/2014/main" val="2973552423"/>
                  </a:ext>
                </a:extLst>
              </a:tr>
              <a:tr h="365760">
                <a:tc>
                  <a:txBody>
                    <a:bodyPr/>
                    <a:lstStyle/>
                    <a:p>
                      <a:r>
                        <a:rPr lang="en-US" sz="1600" dirty="0">
                          <a:solidFill>
                            <a:schemeClr val="bg1"/>
                          </a:solidFill>
                        </a:rPr>
                        <a:t>4. Keep it simple</a:t>
                      </a:r>
                    </a:p>
                  </a:txBody>
                  <a:tcPr/>
                </a:tc>
                <a:tc>
                  <a:txBody>
                    <a:bodyPr/>
                    <a:lstStyle/>
                    <a:p>
                      <a:r>
                        <a:rPr lang="en-US" sz="1600" dirty="0">
                          <a:solidFill>
                            <a:schemeClr val="bg1"/>
                          </a:solidFill>
                        </a:rPr>
                        <a:t>STD-001, 003, 005, 008, 009</a:t>
                      </a:r>
                    </a:p>
                  </a:txBody>
                  <a:tcPr/>
                </a:tc>
                <a:extLst>
                  <a:ext uri="{0D108BD9-81ED-4DB2-BD59-A6C34878D82A}">
                    <a16:rowId xmlns:a16="http://schemas.microsoft.com/office/drawing/2014/main" val="3476648091"/>
                  </a:ext>
                </a:extLst>
              </a:tr>
              <a:tr h="350520">
                <a:tc>
                  <a:txBody>
                    <a:bodyPr/>
                    <a:lstStyle/>
                    <a:p>
                      <a:r>
                        <a:rPr lang="en-US" sz="1600" dirty="0">
                          <a:solidFill>
                            <a:schemeClr val="bg1"/>
                          </a:solidFill>
                        </a:rPr>
                        <a:t>5. Default deny</a:t>
                      </a:r>
                    </a:p>
                  </a:txBody>
                  <a:tcPr/>
                </a:tc>
                <a:tc>
                  <a:txBody>
                    <a:bodyPr/>
                    <a:lstStyle/>
                    <a:p>
                      <a:r>
                        <a:rPr lang="en-US" sz="1600" dirty="0">
                          <a:solidFill>
                            <a:schemeClr val="bg1"/>
                          </a:solidFill>
                        </a:rPr>
                        <a:t>STD-002, 007, 010</a:t>
                      </a:r>
                    </a:p>
                  </a:txBody>
                  <a:tcPr/>
                </a:tc>
                <a:extLst>
                  <a:ext uri="{0D108BD9-81ED-4DB2-BD59-A6C34878D82A}">
                    <a16:rowId xmlns:a16="http://schemas.microsoft.com/office/drawing/2014/main" val="1853466374"/>
                  </a:ext>
                </a:extLst>
              </a:tr>
              <a:tr h="259080">
                <a:tc>
                  <a:txBody>
                    <a:bodyPr/>
                    <a:lstStyle/>
                    <a:p>
                      <a:r>
                        <a:rPr lang="en-US" sz="1600" dirty="0">
                          <a:solidFill>
                            <a:schemeClr val="bg1"/>
                          </a:solidFill>
                        </a:rPr>
                        <a:t>6. Least privilege</a:t>
                      </a:r>
                    </a:p>
                  </a:txBody>
                  <a:tcPr/>
                </a:tc>
                <a:tc>
                  <a:txBody>
                    <a:bodyPr/>
                    <a:lstStyle/>
                    <a:p>
                      <a:r>
                        <a:rPr lang="en-US" sz="1600" dirty="0">
                          <a:solidFill>
                            <a:schemeClr val="bg1"/>
                          </a:solidFill>
                        </a:rPr>
                        <a:t>STD-004</a:t>
                      </a:r>
                    </a:p>
                  </a:txBody>
                  <a:tcPr/>
                </a:tc>
                <a:extLst>
                  <a:ext uri="{0D108BD9-81ED-4DB2-BD59-A6C34878D82A}">
                    <a16:rowId xmlns:a16="http://schemas.microsoft.com/office/drawing/2014/main" val="3161408599"/>
                  </a:ext>
                </a:extLst>
              </a:tr>
              <a:tr h="182880">
                <a:tc>
                  <a:txBody>
                    <a:bodyPr/>
                    <a:lstStyle/>
                    <a:p>
                      <a:r>
                        <a:rPr lang="en-US" sz="1600" dirty="0">
                          <a:solidFill>
                            <a:schemeClr val="bg1"/>
                          </a:solidFill>
                        </a:rPr>
                        <a:t>7. Sanitize data sent to other systems</a:t>
                      </a:r>
                    </a:p>
                  </a:txBody>
                  <a:tcPr/>
                </a:tc>
                <a:tc>
                  <a:txBody>
                    <a:bodyPr/>
                    <a:lstStyle/>
                    <a:p>
                      <a:r>
                        <a:rPr lang="en-US" sz="1600" dirty="0">
                          <a:solidFill>
                            <a:schemeClr val="bg1"/>
                          </a:solidFill>
                        </a:rPr>
                        <a:t>STD-004</a:t>
                      </a:r>
                    </a:p>
                  </a:txBody>
                  <a:tcPr/>
                </a:tc>
                <a:extLst>
                  <a:ext uri="{0D108BD9-81ED-4DB2-BD59-A6C34878D82A}">
                    <a16:rowId xmlns:a16="http://schemas.microsoft.com/office/drawing/2014/main" val="2754990459"/>
                  </a:ext>
                </a:extLst>
              </a:tr>
              <a:tr h="182880">
                <a:tc>
                  <a:txBody>
                    <a:bodyPr/>
                    <a:lstStyle/>
                    <a:p>
                      <a:r>
                        <a:rPr lang="en-US" sz="1600" dirty="0">
                          <a:solidFill>
                            <a:schemeClr val="bg1"/>
                          </a:solidFill>
                        </a:rPr>
                        <a:t>8. Practice defense in depth</a:t>
                      </a:r>
                    </a:p>
                  </a:txBody>
                  <a:tcPr/>
                </a:tc>
                <a:tc>
                  <a:txBody>
                    <a:bodyPr/>
                    <a:lstStyle/>
                    <a:p>
                      <a:r>
                        <a:rPr lang="en-US" sz="1600" dirty="0">
                          <a:solidFill>
                            <a:schemeClr val="bg1"/>
                          </a:solidFill>
                        </a:rPr>
                        <a:t>STD-003, 004, 007, 010</a:t>
                      </a:r>
                    </a:p>
                  </a:txBody>
                  <a:tcPr/>
                </a:tc>
                <a:extLst>
                  <a:ext uri="{0D108BD9-81ED-4DB2-BD59-A6C34878D82A}">
                    <a16:rowId xmlns:a16="http://schemas.microsoft.com/office/drawing/2014/main" val="2988564295"/>
                  </a:ext>
                </a:extLst>
              </a:tr>
              <a:tr h="182880">
                <a:tc>
                  <a:txBody>
                    <a:bodyPr/>
                    <a:lstStyle/>
                    <a:p>
                      <a:r>
                        <a:rPr lang="en-US" sz="1600" dirty="0">
                          <a:solidFill>
                            <a:schemeClr val="bg1"/>
                          </a:solidFill>
                        </a:rPr>
                        <a:t>9. Effective quality assurance techniques</a:t>
                      </a:r>
                    </a:p>
                  </a:txBody>
                  <a:tcPr/>
                </a:tc>
                <a:tc>
                  <a:txBody>
                    <a:bodyPr/>
                    <a:lstStyle/>
                    <a:p>
                      <a:r>
                        <a:rPr lang="en-US" sz="1600" dirty="0">
                          <a:solidFill>
                            <a:schemeClr val="bg1"/>
                          </a:solidFill>
                        </a:rPr>
                        <a:t>STD-002, 005, 006, 009</a:t>
                      </a:r>
                    </a:p>
                  </a:txBody>
                  <a:tcPr/>
                </a:tc>
                <a:extLst>
                  <a:ext uri="{0D108BD9-81ED-4DB2-BD59-A6C34878D82A}">
                    <a16:rowId xmlns:a16="http://schemas.microsoft.com/office/drawing/2014/main" val="1316953316"/>
                  </a:ext>
                </a:extLst>
              </a:tr>
              <a:tr h="182880">
                <a:tc>
                  <a:txBody>
                    <a:bodyPr/>
                    <a:lstStyle/>
                    <a:p>
                      <a:r>
                        <a:rPr lang="en-US" sz="1600" dirty="0">
                          <a:solidFill>
                            <a:schemeClr val="bg1"/>
                          </a:solidFill>
                        </a:rPr>
                        <a:t>10. Adopt a secure coding standard</a:t>
                      </a:r>
                    </a:p>
                  </a:txBody>
                  <a:tcPr/>
                </a:tc>
                <a:tc>
                  <a:txBody>
                    <a:bodyPr/>
                    <a:lstStyle/>
                    <a:p>
                      <a:r>
                        <a:rPr lang="en-US" sz="1600" dirty="0">
                          <a:solidFill>
                            <a:schemeClr val="bg1"/>
                          </a:solidFill>
                        </a:rPr>
                        <a:t>STD-001, 006, 008</a:t>
                      </a:r>
                    </a:p>
                  </a:txBody>
                  <a:tcPr/>
                </a:tc>
                <a:extLst>
                  <a:ext uri="{0D108BD9-81ED-4DB2-BD59-A6C34878D82A}">
                    <a16:rowId xmlns:a16="http://schemas.microsoft.com/office/drawing/2014/main" val="1466076695"/>
                  </a:ext>
                </a:extLst>
              </a:tr>
            </a:tbl>
          </a:graphicData>
        </a:graphic>
      </p:graphicFrame>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6"/>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CODING STANDARDS</a:t>
            </a:r>
            <a:endParaRPr/>
          </a:p>
        </p:txBody>
      </p:sp>
      <p:pic>
        <p:nvPicPr>
          <p:cNvPr id="176" name="Google Shape;176;p6"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graphicFrame>
        <p:nvGraphicFramePr>
          <p:cNvPr id="4" name="Table 3">
            <a:extLst>
              <a:ext uri="{FF2B5EF4-FFF2-40B4-BE49-F238E27FC236}">
                <a16:creationId xmlns:a16="http://schemas.microsoft.com/office/drawing/2014/main" id="{823B1F7E-3C86-E706-49D2-5D585F240482}"/>
              </a:ext>
            </a:extLst>
          </p:cNvPr>
          <p:cNvGraphicFramePr>
            <a:graphicFrameLocks noGrp="1"/>
          </p:cNvGraphicFramePr>
          <p:nvPr>
            <p:extLst>
              <p:ext uri="{D42A27DB-BD31-4B8C-83A1-F6EECF244321}">
                <p14:modId xmlns:p14="http://schemas.microsoft.com/office/powerpoint/2010/main" val="1778276288"/>
              </p:ext>
            </p:extLst>
          </p:nvPr>
        </p:nvGraphicFramePr>
        <p:xfrm>
          <a:off x="2032000" y="1871981"/>
          <a:ext cx="8127999" cy="4079240"/>
        </p:xfrm>
        <a:graphic>
          <a:graphicData uri="http://schemas.openxmlformats.org/drawingml/2006/table">
            <a:tbl>
              <a:tblPr firstRow="1" bandRow="1">
                <a:tableStyleId>{802198C4-3087-4945-87E3-76CBB3509B7E}</a:tableStyleId>
              </a:tblPr>
              <a:tblGrid>
                <a:gridCol w="5877560">
                  <a:extLst>
                    <a:ext uri="{9D8B030D-6E8A-4147-A177-3AD203B41FA5}">
                      <a16:colId xmlns:a16="http://schemas.microsoft.com/office/drawing/2014/main" val="2663158835"/>
                    </a:ext>
                  </a:extLst>
                </a:gridCol>
                <a:gridCol w="1371600">
                  <a:extLst>
                    <a:ext uri="{9D8B030D-6E8A-4147-A177-3AD203B41FA5}">
                      <a16:colId xmlns:a16="http://schemas.microsoft.com/office/drawing/2014/main" val="343446655"/>
                    </a:ext>
                  </a:extLst>
                </a:gridCol>
                <a:gridCol w="878839">
                  <a:extLst>
                    <a:ext uri="{9D8B030D-6E8A-4147-A177-3AD203B41FA5}">
                      <a16:colId xmlns:a16="http://schemas.microsoft.com/office/drawing/2014/main" val="3043302578"/>
                    </a:ext>
                  </a:extLst>
                </a:gridCol>
              </a:tblGrid>
              <a:tr h="370840">
                <a:tc>
                  <a:txBody>
                    <a:bodyPr/>
                    <a:lstStyle/>
                    <a:p>
                      <a:r>
                        <a:rPr lang="en-US" dirty="0">
                          <a:solidFill>
                            <a:schemeClr val="bg1"/>
                          </a:solidFill>
                        </a:rPr>
                        <a:t>Coding Standard</a:t>
                      </a:r>
                    </a:p>
                  </a:txBody>
                  <a:tcPr/>
                </a:tc>
                <a:tc>
                  <a:txBody>
                    <a:bodyPr/>
                    <a:lstStyle/>
                    <a:p>
                      <a:r>
                        <a:rPr lang="en-US" dirty="0">
                          <a:solidFill>
                            <a:schemeClr val="bg1"/>
                          </a:solidFill>
                        </a:rPr>
                        <a:t>Score</a:t>
                      </a:r>
                    </a:p>
                  </a:txBody>
                  <a:tcPr/>
                </a:tc>
                <a:tc>
                  <a:txBody>
                    <a:bodyPr/>
                    <a:lstStyle/>
                    <a:p>
                      <a:r>
                        <a:rPr lang="en-US" dirty="0">
                          <a:solidFill>
                            <a:schemeClr val="bg1"/>
                          </a:solidFill>
                        </a:rPr>
                        <a:t>Level</a:t>
                      </a:r>
                    </a:p>
                  </a:txBody>
                  <a:tcPr/>
                </a:tc>
                <a:extLst>
                  <a:ext uri="{0D108BD9-81ED-4DB2-BD59-A6C34878D82A}">
                    <a16:rowId xmlns:a16="http://schemas.microsoft.com/office/drawing/2014/main" val="3056140146"/>
                  </a:ext>
                </a:extLst>
              </a:tr>
              <a:tr h="370840">
                <a:tc>
                  <a:txBody>
                    <a:bodyPr/>
                    <a:lstStyle/>
                    <a:p>
                      <a:r>
                        <a:rPr lang="en-US" dirty="0">
                          <a:solidFill>
                            <a:schemeClr val="bg1"/>
                          </a:solidFill>
                        </a:rPr>
                        <a:t>STD-003 – Sufficient String Storage</a:t>
                      </a:r>
                    </a:p>
                  </a:txBody>
                  <a:tcPr/>
                </a:tc>
                <a:tc>
                  <a:txBody>
                    <a:bodyPr/>
                    <a:lstStyle/>
                    <a:p>
                      <a:r>
                        <a:rPr lang="en-US" dirty="0">
                          <a:solidFill>
                            <a:schemeClr val="bg1"/>
                          </a:solidFill>
                        </a:rPr>
                        <a:t>18</a:t>
                      </a:r>
                    </a:p>
                  </a:txBody>
                  <a:tcPr/>
                </a:tc>
                <a:tc>
                  <a:txBody>
                    <a:bodyPr/>
                    <a:lstStyle/>
                    <a:p>
                      <a:r>
                        <a:rPr lang="en-US" dirty="0">
                          <a:solidFill>
                            <a:schemeClr val="bg1"/>
                          </a:solidFill>
                        </a:rPr>
                        <a:t>1</a:t>
                      </a:r>
                    </a:p>
                  </a:txBody>
                  <a:tcPr/>
                </a:tc>
                <a:extLst>
                  <a:ext uri="{0D108BD9-81ED-4DB2-BD59-A6C34878D82A}">
                    <a16:rowId xmlns:a16="http://schemas.microsoft.com/office/drawing/2014/main" val="2034800986"/>
                  </a:ext>
                </a:extLst>
              </a:tr>
              <a:tr h="370840">
                <a:tc>
                  <a:txBody>
                    <a:bodyPr/>
                    <a:lstStyle/>
                    <a:p>
                      <a:r>
                        <a:rPr lang="en-US" dirty="0">
                          <a:solidFill>
                            <a:schemeClr val="bg1"/>
                          </a:solidFill>
                        </a:rPr>
                        <a:t>STD-004 – Parameterized SQL Queries</a:t>
                      </a:r>
                    </a:p>
                  </a:txBody>
                  <a:tcPr/>
                </a:tc>
                <a:tc>
                  <a:txBody>
                    <a:bodyPr/>
                    <a:lstStyle/>
                    <a:p>
                      <a:r>
                        <a:rPr lang="en-US" dirty="0">
                          <a:solidFill>
                            <a:schemeClr val="bg1"/>
                          </a:solidFill>
                        </a:rPr>
                        <a:t>18</a:t>
                      </a:r>
                    </a:p>
                  </a:txBody>
                  <a:tcPr/>
                </a:tc>
                <a:tc>
                  <a:txBody>
                    <a:bodyPr/>
                    <a:lstStyle/>
                    <a:p>
                      <a:r>
                        <a:rPr lang="en-US" dirty="0">
                          <a:solidFill>
                            <a:schemeClr val="bg1"/>
                          </a:solidFill>
                        </a:rPr>
                        <a:t>1</a:t>
                      </a:r>
                    </a:p>
                  </a:txBody>
                  <a:tcPr/>
                </a:tc>
                <a:extLst>
                  <a:ext uri="{0D108BD9-81ED-4DB2-BD59-A6C34878D82A}">
                    <a16:rowId xmlns:a16="http://schemas.microsoft.com/office/drawing/2014/main" val="3682056723"/>
                  </a:ext>
                </a:extLst>
              </a:tr>
              <a:tr h="370840">
                <a:tc>
                  <a:txBody>
                    <a:bodyPr/>
                    <a:lstStyle/>
                    <a:p>
                      <a:r>
                        <a:rPr lang="en-US" dirty="0">
                          <a:solidFill>
                            <a:schemeClr val="bg1"/>
                          </a:solidFill>
                        </a:rPr>
                        <a:t>STD-010 – Container Index Bounds</a:t>
                      </a:r>
                    </a:p>
                  </a:txBody>
                  <a:tcPr/>
                </a:tc>
                <a:tc>
                  <a:txBody>
                    <a:bodyPr/>
                    <a:lstStyle/>
                    <a:p>
                      <a:r>
                        <a:rPr lang="en-US" dirty="0">
                          <a:solidFill>
                            <a:schemeClr val="bg1"/>
                          </a:solidFill>
                        </a:rPr>
                        <a:t>18</a:t>
                      </a:r>
                    </a:p>
                  </a:txBody>
                  <a:tcPr/>
                </a:tc>
                <a:tc>
                  <a:txBody>
                    <a:bodyPr/>
                    <a:lstStyle/>
                    <a:p>
                      <a:r>
                        <a:rPr lang="en-US" dirty="0">
                          <a:solidFill>
                            <a:schemeClr val="bg1"/>
                          </a:solidFill>
                        </a:rPr>
                        <a:t>1</a:t>
                      </a:r>
                    </a:p>
                  </a:txBody>
                  <a:tcPr/>
                </a:tc>
                <a:extLst>
                  <a:ext uri="{0D108BD9-81ED-4DB2-BD59-A6C34878D82A}">
                    <a16:rowId xmlns:a16="http://schemas.microsoft.com/office/drawing/2014/main" val="3486234259"/>
                  </a:ext>
                </a:extLst>
              </a:tr>
              <a:tr h="370840">
                <a:tc>
                  <a:txBody>
                    <a:bodyPr/>
                    <a:lstStyle/>
                    <a:p>
                      <a:r>
                        <a:rPr lang="en-US" dirty="0">
                          <a:solidFill>
                            <a:schemeClr val="bg1"/>
                          </a:solidFill>
                        </a:rPr>
                        <a:t>STD-001 – Appropriate Integer Types</a:t>
                      </a:r>
                    </a:p>
                  </a:txBody>
                  <a:tcPr/>
                </a:tc>
                <a:tc>
                  <a:txBody>
                    <a:bodyPr/>
                    <a:lstStyle/>
                    <a:p>
                      <a:r>
                        <a:rPr lang="en-US" dirty="0">
                          <a:solidFill>
                            <a:schemeClr val="bg1"/>
                          </a:solidFill>
                        </a:rPr>
                        <a:t>12</a:t>
                      </a:r>
                    </a:p>
                  </a:txBody>
                  <a:tcPr/>
                </a:tc>
                <a:tc>
                  <a:txBody>
                    <a:bodyPr/>
                    <a:lstStyle/>
                    <a:p>
                      <a:r>
                        <a:rPr lang="en-US" dirty="0">
                          <a:solidFill>
                            <a:schemeClr val="bg1"/>
                          </a:solidFill>
                        </a:rPr>
                        <a:t>1</a:t>
                      </a:r>
                    </a:p>
                  </a:txBody>
                  <a:tcPr/>
                </a:tc>
                <a:extLst>
                  <a:ext uri="{0D108BD9-81ED-4DB2-BD59-A6C34878D82A}">
                    <a16:rowId xmlns:a16="http://schemas.microsoft.com/office/drawing/2014/main" val="2261208312"/>
                  </a:ext>
                </a:extLst>
              </a:tr>
              <a:tr h="370840">
                <a:tc>
                  <a:txBody>
                    <a:bodyPr/>
                    <a:lstStyle/>
                    <a:p>
                      <a:r>
                        <a:rPr lang="en-US" dirty="0">
                          <a:solidFill>
                            <a:schemeClr val="bg1"/>
                          </a:solidFill>
                        </a:rPr>
                        <a:t>STD-002 – Integer Range Validation</a:t>
                      </a:r>
                    </a:p>
                  </a:txBody>
                  <a:tcPr/>
                </a:tc>
                <a:tc>
                  <a:txBody>
                    <a:bodyPr/>
                    <a:lstStyle/>
                    <a:p>
                      <a:r>
                        <a:rPr lang="en-US" dirty="0">
                          <a:solidFill>
                            <a:schemeClr val="bg1"/>
                          </a:solidFill>
                        </a:rPr>
                        <a:t>12</a:t>
                      </a:r>
                    </a:p>
                  </a:txBody>
                  <a:tcPr/>
                </a:tc>
                <a:tc>
                  <a:txBody>
                    <a:bodyPr/>
                    <a:lstStyle/>
                    <a:p>
                      <a:r>
                        <a:rPr lang="en-US" dirty="0">
                          <a:solidFill>
                            <a:schemeClr val="bg1"/>
                          </a:solidFill>
                        </a:rPr>
                        <a:t>1</a:t>
                      </a:r>
                    </a:p>
                  </a:txBody>
                  <a:tcPr/>
                </a:tc>
                <a:extLst>
                  <a:ext uri="{0D108BD9-81ED-4DB2-BD59-A6C34878D82A}">
                    <a16:rowId xmlns:a16="http://schemas.microsoft.com/office/drawing/2014/main" val="1490886513"/>
                  </a:ext>
                </a:extLst>
              </a:tr>
              <a:tr h="370840">
                <a:tc>
                  <a:txBody>
                    <a:bodyPr/>
                    <a:lstStyle/>
                    <a:p>
                      <a:r>
                        <a:rPr lang="en-US" dirty="0">
                          <a:solidFill>
                            <a:schemeClr val="bg1"/>
                          </a:solidFill>
                        </a:rPr>
                        <a:t>STD-005 – Avoid Free Memory Access</a:t>
                      </a:r>
                    </a:p>
                  </a:txBody>
                  <a:tcPr/>
                </a:tc>
                <a:tc>
                  <a:txBody>
                    <a:bodyPr/>
                    <a:lstStyle/>
                    <a:p>
                      <a:r>
                        <a:rPr lang="en-US" dirty="0">
                          <a:solidFill>
                            <a:schemeClr val="bg1"/>
                          </a:solidFill>
                        </a:rPr>
                        <a:t>12</a:t>
                      </a:r>
                    </a:p>
                  </a:txBody>
                  <a:tcPr/>
                </a:tc>
                <a:tc>
                  <a:txBody>
                    <a:bodyPr/>
                    <a:lstStyle/>
                    <a:p>
                      <a:r>
                        <a:rPr lang="en-US" dirty="0">
                          <a:solidFill>
                            <a:schemeClr val="bg1"/>
                          </a:solidFill>
                        </a:rPr>
                        <a:t>1</a:t>
                      </a:r>
                    </a:p>
                  </a:txBody>
                  <a:tcPr/>
                </a:tc>
                <a:extLst>
                  <a:ext uri="{0D108BD9-81ED-4DB2-BD59-A6C34878D82A}">
                    <a16:rowId xmlns:a16="http://schemas.microsoft.com/office/drawing/2014/main" val="109850468"/>
                  </a:ext>
                </a:extLst>
              </a:tr>
              <a:tr h="370840">
                <a:tc>
                  <a:txBody>
                    <a:bodyPr/>
                    <a:lstStyle/>
                    <a:p>
                      <a:r>
                        <a:rPr lang="en-US" dirty="0">
                          <a:solidFill>
                            <a:schemeClr val="bg1"/>
                          </a:solidFill>
                        </a:rPr>
                        <a:t>STD-006 – Assertions and Runtime Checks</a:t>
                      </a:r>
                    </a:p>
                  </a:txBody>
                  <a:tcPr/>
                </a:tc>
                <a:tc>
                  <a:txBody>
                    <a:bodyPr/>
                    <a:lstStyle/>
                    <a:p>
                      <a:r>
                        <a:rPr lang="en-US" dirty="0">
                          <a:solidFill>
                            <a:schemeClr val="bg1"/>
                          </a:solidFill>
                        </a:rPr>
                        <a:t>12</a:t>
                      </a:r>
                    </a:p>
                  </a:txBody>
                  <a:tcPr/>
                </a:tc>
                <a:tc>
                  <a:txBody>
                    <a:bodyPr/>
                    <a:lstStyle/>
                    <a:p>
                      <a:r>
                        <a:rPr lang="en-US" dirty="0">
                          <a:solidFill>
                            <a:schemeClr val="bg1"/>
                          </a:solidFill>
                        </a:rPr>
                        <a:t>1</a:t>
                      </a:r>
                    </a:p>
                  </a:txBody>
                  <a:tcPr/>
                </a:tc>
                <a:extLst>
                  <a:ext uri="{0D108BD9-81ED-4DB2-BD59-A6C34878D82A}">
                    <a16:rowId xmlns:a16="http://schemas.microsoft.com/office/drawing/2014/main" val="713224779"/>
                  </a:ext>
                </a:extLst>
              </a:tr>
              <a:tr h="370840">
                <a:tc>
                  <a:txBody>
                    <a:bodyPr/>
                    <a:lstStyle/>
                    <a:p>
                      <a:r>
                        <a:rPr lang="en-US" dirty="0">
                          <a:solidFill>
                            <a:schemeClr val="bg1"/>
                          </a:solidFill>
                        </a:rPr>
                        <a:t>STD-008 – Avoid Multiple Changes in Expressions</a:t>
                      </a:r>
                    </a:p>
                  </a:txBody>
                  <a:tcPr/>
                </a:tc>
                <a:tc>
                  <a:txBody>
                    <a:bodyPr/>
                    <a:lstStyle/>
                    <a:p>
                      <a:r>
                        <a:rPr lang="en-US" dirty="0">
                          <a:solidFill>
                            <a:schemeClr val="bg1"/>
                          </a:solidFill>
                        </a:rPr>
                        <a:t>12</a:t>
                      </a:r>
                    </a:p>
                  </a:txBody>
                  <a:tcPr/>
                </a:tc>
                <a:tc>
                  <a:txBody>
                    <a:bodyPr/>
                    <a:lstStyle/>
                    <a:p>
                      <a:r>
                        <a:rPr lang="en-US" dirty="0">
                          <a:solidFill>
                            <a:schemeClr val="bg1"/>
                          </a:solidFill>
                        </a:rPr>
                        <a:t>1</a:t>
                      </a:r>
                    </a:p>
                  </a:txBody>
                  <a:tcPr/>
                </a:tc>
                <a:extLst>
                  <a:ext uri="{0D108BD9-81ED-4DB2-BD59-A6C34878D82A}">
                    <a16:rowId xmlns:a16="http://schemas.microsoft.com/office/drawing/2014/main" val="1116597289"/>
                  </a:ext>
                </a:extLst>
              </a:tr>
              <a:tr h="370840">
                <a:tc>
                  <a:txBody>
                    <a:bodyPr/>
                    <a:lstStyle/>
                    <a:p>
                      <a:r>
                        <a:rPr lang="en-US" dirty="0">
                          <a:solidFill>
                            <a:schemeClr val="bg1"/>
                          </a:solidFill>
                        </a:rPr>
                        <a:t>STD-009 – Avoid Uninitialized Memory</a:t>
                      </a:r>
                    </a:p>
                  </a:txBody>
                  <a:tcPr/>
                </a:tc>
                <a:tc>
                  <a:txBody>
                    <a:bodyPr/>
                    <a:lstStyle/>
                    <a:p>
                      <a:r>
                        <a:rPr lang="en-US" dirty="0">
                          <a:solidFill>
                            <a:schemeClr val="bg1"/>
                          </a:solidFill>
                        </a:rPr>
                        <a:t>12</a:t>
                      </a:r>
                    </a:p>
                  </a:txBody>
                  <a:tcPr/>
                </a:tc>
                <a:tc>
                  <a:txBody>
                    <a:bodyPr/>
                    <a:lstStyle/>
                    <a:p>
                      <a:r>
                        <a:rPr lang="en-US" dirty="0">
                          <a:solidFill>
                            <a:schemeClr val="bg1"/>
                          </a:solidFill>
                        </a:rPr>
                        <a:t>1</a:t>
                      </a:r>
                    </a:p>
                  </a:txBody>
                  <a:tcPr/>
                </a:tc>
                <a:extLst>
                  <a:ext uri="{0D108BD9-81ED-4DB2-BD59-A6C34878D82A}">
                    <a16:rowId xmlns:a16="http://schemas.microsoft.com/office/drawing/2014/main" val="983881957"/>
                  </a:ext>
                </a:extLst>
              </a:tr>
              <a:tr h="370840">
                <a:tc>
                  <a:txBody>
                    <a:bodyPr/>
                    <a:lstStyle/>
                    <a:p>
                      <a:r>
                        <a:rPr lang="en-US" dirty="0">
                          <a:solidFill>
                            <a:schemeClr val="bg1"/>
                          </a:solidFill>
                        </a:rPr>
                        <a:t>STD-007 – Handle All Exceptions</a:t>
                      </a:r>
                    </a:p>
                  </a:txBody>
                  <a:tcPr/>
                </a:tc>
                <a:tc>
                  <a:txBody>
                    <a:bodyPr/>
                    <a:lstStyle/>
                    <a:p>
                      <a:r>
                        <a:rPr lang="en-US" dirty="0">
                          <a:solidFill>
                            <a:schemeClr val="bg1"/>
                          </a:solidFill>
                        </a:rPr>
                        <a:t>8</a:t>
                      </a:r>
                    </a:p>
                  </a:txBody>
                  <a:tcPr/>
                </a:tc>
                <a:tc>
                  <a:txBody>
                    <a:bodyPr/>
                    <a:lstStyle/>
                    <a:p>
                      <a:r>
                        <a:rPr lang="en-US" dirty="0">
                          <a:solidFill>
                            <a:schemeClr val="bg1"/>
                          </a:solidFill>
                        </a:rPr>
                        <a:t>2</a:t>
                      </a:r>
                    </a:p>
                  </a:txBody>
                  <a:tcPr/>
                </a:tc>
                <a:extLst>
                  <a:ext uri="{0D108BD9-81ED-4DB2-BD59-A6C34878D82A}">
                    <a16:rowId xmlns:a16="http://schemas.microsoft.com/office/drawing/2014/main" val="340271983"/>
                  </a:ext>
                </a:extLst>
              </a:tr>
            </a:tbl>
          </a:graphicData>
        </a:graphic>
      </p:graphicFrame>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ENCRYPTION POLICIES</a:t>
            </a:r>
            <a:endParaRPr/>
          </a:p>
        </p:txBody>
      </p:sp>
      <p:sp>
        <p:nvSpPr>
          <p:cNvPr id="182" name="Google Shape;182;p7"/>
          <p:cNvSpPr txBox="1">
            <a:spLocks noGrp="1"/>
          </p:cNvSpPr>
          <p:nvPr>
            <p:ph type="body" idx="1"/>
          </p:nvPr>
        </p:nvSpPr>
        <p:spPr>
          <a:xfrm>
            <a:off x="685800" y="4800600"/>
            <a:ext cx="10820400" cy="141808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lt1"/>
              </a:buClr>
              <a:buSzPts val="2000"/>
              <a:buNone/>
            </a:pPr>
            <a:r>
              <a:rPr lang="en-US" sz="2000" dirty="0"/>
              <a:t>Key Management: Restrict key access, use approved key-management systems, and rotate or replace keys according to policy.</a:t>
            </a:r>
          </a:p>
          <a:p>
            <a:pPr marL="0" lvl="0" indent="0" algn="l" rtl="0">
              <a:lnSpc>
                <a:spcPct val="90000"/>
              </a:lnSpc>
              <a:spcBef>
                <a:spcPts val="0"/>
              </a:spcBef>
              <a:spcAft>
                <a:spcPts val="0"/>
              </a:spcAft>
              <a:buClr>
                <a:schemeClr val="lt1"/>
              </a:buClr>
              <a:buSzPts val="2000"/>
              <a:buNone/>
            </a:pPr>
            <a:r>
              <a:rPr lang="en-US" sz="2000" dirty="0"/>
              <a:t>These are proposed Green Pace encryption requirements, rather than claims that Green Pace already has these controls deployed.</a:t>
            </a:r>
            <a:endParaRPr sz="1600" dirty="0"/>
          </a:p>
          <a:p>
            <a:pPr marL="0" lvl="0" indent="0" algn="l" rtl="0">
              <a:lnSpc>
                <a:spcPct val="90000"/>
              </a:lnSpc>
              <a:spcBef>
                <a:spcPts val="1000"/>
              </a:spcBef>
              <a:spcAft>
                <a:spcPts val="0"/>
              </a:spcAft>
              <a:buClr>
                <a:schemeClr val="lt1"/>
              </a:buClr>
              <a:buSzPts val="1600"/>
              <a:buNone/>
            </a:pPr>
            <a:endParaRPr sz="1600" dirty="0"/>
          </a:p>
          <a:p>
            <a:pPr marL="228600" lvl="0" indent="-88900" algn="l" rtl="0">
              <a:lnSpc>
                <a:spcPct val="90000"/>
              </a:lnSpc>
              <a:spcBef>
                <a:spcPts val="1000"/>
              </a:spcBef>
              <a:spcAft>
                <a:spcPts val="0"/>
              </a:spcAft>
              <a:buClr>
                <a:schemeClr val="lt1"/>
              </a:buClr>
              <a:buSzPts val="2200"/>
              <a:buNone/>
            </a:pPr>
            <a:endParaRPr dirty="0"/>
          </a:p>
        </p:txBody>
      </p:sp>
      <p:pic>
        <p:nvPicPr>
          <p:cNvPr id="183" name="Google Shape;183;p7"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graphicFrame>
        <p:nvGraphicFramePr>
          <p:cNvPr id="2" name="Table 1">
            <a:extLst>
              <a:ext uri="{FF2B5EF4-FFF2-40B4-BE49-F238E27FC236}">
                <a16:creationId xmlns:a16="http://schemas.microsoft.com/office/drawing/2014/main" id="{64654DE3-DC42-50A7-C95C-4456CFCA9E02}"/>
              </a:ext>
            </a:extLst>
          </p:cNvPr>
          <p:cNvGraphicFramePr>
            <a:graphicFrameLocks noGrp="1"/>
          </p:cNvGraphicFramePr>
          <p:nvPr>
            <p:extLst>
              <p:ext uri="{D42A27DB-BD31-4B8C-83A1-F6EECF244321}">
                <p14:modId xmlns:p14="http://schemas.microsoft.com/office/powerpoint/2010/main" val="168995414"/>
              </p:ext>
            </p:extLst>
          </p:nvPr>
        </p:nvGraphicFramePr>
        <p:xfrm>
          <a:off x="1168400" y="2057400"/>
          <a:ext cx="8128000" cy="2138680"/>
        </p:xfrm>
        <a:graphic>
          <a:graphicData uri="http://schemas.openxmlformats.org/drawingml/2006/table">
            <a:tbl>
              <a:tblPr firstRow="1" bandRow="1">
                <a:tableStyleId>{802198C4-3087-4945-87E3-76CBB3509B7E}</a:tableStyleId>
              </a:tblPr>
              <a:tblGrid>
                <a:gridCol w="2352040">
                  <a:extLst>
                    <a:ext uri="{9D8B030D-6E8A-4147-A177-3AD203B41FA5}">
                      <a16:colId xmlns:a16="http://schemas.microsoft.com/office/drawing/2014/main" val="41877371"/>
                    </a:ext>
                  </a:extLst>
                </a:gridCol>
                <a:gridCol w="5775960">
                  <a:extLst>
                    <a:ext uri="{9D8B030D-6E8A-4147-A177-3AD203B41FA5}">
                      <a16:colId xmlns:a16="http://schemas.microsoft.com/office/drawing/2014/main" val="2685511656"/>
                    </a:ext>
                  </a:extLst>
                </a:gridCol>
              </a:tblGrid>
              <a:tr h="370840">
                <a:tc>
                  <a:txBody>
                    <a:bodyPr/>
                    <a:lstStyle/>
                    <a:p>
                      <a:r>
                        <a:rPr lang="en-US" dirty="0">
                          <a:solidFill>
                            <a:schemeClr val="bg1"/>
                          </a:solidFill>
                        </a:rPr>
                        <a:t>Encryption category</a:t>
                      </a:r>
                    </a:p>
                  </a:txBody>
                  <a:tcPr/>
                </a:tc>
                <a:tc>
                  <a:txBody>
                    <a:bodyPr/>
                    <a:lstStyle/>
                    <a:p>
                      <a:r>
                        <a:rPr lang="en-US" dirty="0">
                          <a:solidFill>
                            <a:schemeClr val="bg1"/>
                          </a:solidFill>
                        </a:rPr>
                        <a:t>Green Pace policy</a:t>
                      </a:r>
                    </a:p>
                  </a:txBody>
                  <a:tcPr/>
                </a:tc>
                <a:extLst>
                  <a:ext uri="{0D108BD9-81ED-4DB2-BD59-A6C34878D82A}">
                    <a16:rowId xmlns:a16="http://schemas.microsoft.com/office/drawing/2014/main" val="3780478136"/>
                  </a:ext>
                </a:extLst>
              </a:tr>
              <a:tr h="370840">
                <a:tc>
                  <a:txBody>
                    <a:bodyPr/>
                    <a:lstStyle/>
                    <a:p>
                      <a:r>
                        <a:rPr lang="en-US" dirty="0">
                          <a:solidFill>
                            <a:schemeClr val="bg1"/>
                          </a:solidFill>
                        </a:rPr>
                        <a:t>Data at Rest</a:t>
                      </a:r>
                    </a:p>
                  </a:txBody>
                  <a:tcPr/>
                </a:tc>
                <a:tc>
                  <a:txBody>
                    <a:bodyPr/>
                    <a:lstStyle/>
                    <a:p>
                      <a:r>
                        <a:rPr lang="en-US" dirty="0">
                          <a:solidFill>
                            <a:schemeClr val="bg1"/>
                          </a:solidFill>
                        </a:rPr>
                        <a:t>Encrypt sensitive stored data using AES-256. Protect encryption keys separately from the data.</a:t>
                      </a:r>
                    </a:p>
                  </a:txBody>
                  <a:tcPr/>
                </a:tc>
                <a:extLst>
                  <a:ext uri="{0D108BD9-81ED-4DB2-BD59-A6C34878D82A}">
                    <a16:rowId xmlns:a16="http://schemas.microsoft.com/office/drawing/2014/main" val="2318684400"/>
                  </a:ext>
                </a:extLst>
              </a:tr>
              <a:tr h="370840">
                <a:tc>
                  <a:txBody>
                    <a:bodyPr/>
                    <a:lstStyle/>
                    <a:p>
                      <a:r>
                        <a:rPr lang="en-US" dirty="0">
                          <a:solidFill>
                            <a:schemeClr val="bg1"/>
                          </a:solidFill>
                        </a:rPr>
                        <a:t>Data in Transit</a:t>
                      </a:r>
                    </a:p>
                  </a:txBody>
                  <a:tcPr/>
                </a:tc>
                <a:tc>
                  <a:txBody>
                    <a:bodyPr/>
                    <a:lstStyle/>
                    <a:p>
                      <a:r>
                        <a:rPr lang="en-US" dirty="0">
                          <a:solidFill>
                            <a:schemeClr val="bg1"/>
                          </a:solidFill>
                        </a:rPr>
                        <a:t>Require TLS 1.3 for supported network communications. Validate certificates and prohibit insecure connections.</a:t>
                      </a:r>
                    </a:p>
                  </a:txBody>
                  <a:tcPr/>
                </a:tc>
                <a:extLst>
                  <a:ext uri="{0D108BD9-81ED-4DB2-BD59-A6C34878D82A}">
                    <a16:rowId xmlns:a16="http://schemas.microsoft.com/office/drawing/2014/main" val="317637131"/>
                  </a:ext>
                </a:extLst>
              </a:tr>
              <a:tr h="370840">
                <a:tc>
                  <a:txBody>
                    <a:bodyPr/>
                    <a:lstStyle/>
                    <a:p>
                      <a:r>
                        <a:rPr lang="en-US" dirty="0">
                          <a:solidFill>
                            <a:schemeClr val="bg1"/>
                          </a:solidFill>
                        </a:rPr>
                        <a:t>Data in Use</a:t>
                      </a:r>
                    </a:p>
                  </a:txBody>
                  <a:tcPr/>
                </a:tc>
                <a:tc>
                  <a:txBody>
                    <a:bodyPr/>
                    <a:lstStyle/>
                    <a:p>
                      <a:r>
                        <a:rPr lang="en-US" dirty="0">
                          <a:solidFill>
                            <a:schemeClr val="bg1"/>
                          </a:solidFill>
                        </a:rPr>
                        <a:t>Minimize plaintext exposure in memory. Restrict access, clear sensitive buffers when appropriate, and use hardware-backed protections where needed.</a:t>
                      </a:r>
                    </a:p>
                  </a:txBody>
                  <a:tcPr/>
                </a:tc>
                <a:extLst>
                  <a:ext uri="{0D108BD9-81ED-4DB2-BD59-A6C34878D82A}">
                    <a16:rowId xmlns:a16="http://schemas.microsoft.com/office/drawing/2014/main" val="3111355944"/>
                  </a:ext>
                </a:extLst>
              </a:tr>
            </a:tbl>
          </a:graphicData>
        </a:graphic>
      </p:graphicFrame>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8"/>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TRIPLE-A POLICIES</a:t>
            </a:r>
            <a:endParaRPr/>
          </a:p>
        </p:txBody>
      </p:sp>
      <p:sp>
        <p:nvSpPr>
          <p:cNvPr id="189" name="Google Shape;189;p8"/>
          <p:cNvSpPr txBox="1">
            <a:spLocks noGrp="1"/>
          </p:cNvSpPr>
          <p:nvPr>
            <p:ph type="body" idx="1"/>
          </p:nvPr>
        </p:nvSpPr>
        <p:spPr>
          <a:xfrm>
            <a:off x="411480" y="5440526"/>
            <a:ext cx="10820400" cy="1042546"/>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lt1"/>
              </a:buClr>
              <a:buSzPts val="2400"/>
              <a:buNone/>
            </a:pPr>
            <a:r>
              <a:rPr lang="en-US" sz="2400" dirty="0"/>
              <a:t>Security Goal: Ensure access is verified, restricted, and auditable.</a:t>
            </a:r>
          </a:p>
        </p:txBody>
      </p:sp>
      <p:pic>
        <p:nvPicPr>
          <p:cNvPr id="190" name="Google Shape;190;p8"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graphicFrame>
        <p:nvGraphicFramePr>
          <p:cNvPr id="2" name="Table 1">
            <a:extLst>
              <a:ext uri="{FF2B5EF4-FFF2-40B4-BE49-F238E27FC236}">
                <a16:creationId xmlns:a16="http://schemas.microsoft.com/office/drawing/2014/main" id="{7D19DF62-EA70-A951-5922-2C25A3161B44}"/>
              </a:ext>
            </a:extLst>
          </p:cNvPr>
          <p:cNvGraphicFramePr>
            <a:graphicFrameLocks noGrp="1"/>
          </p:cNvGraphicFramePr>
          <p:nvPr>
            <p:extLst>
              <p:ext uri="{D42A27DB-BD31-4B8C-83A1-F6EECF244321}">
                <p14:modId xmlns:p14="http://schemas.microsoft.com/office/powerpoint/2010/main" val="35586897"/>
              </p:ext>
            </p:extLst>
          </p:nvPr>
        </p:nvGraphicFramePr>
        <p:xfrm>
          <a:off x="1452880" y="2059774"/>
          <a:ext cx="8610601" cy="2984666"/>
        </p:xfrm>
        <a:graphic>
          <a:graphicData uri="http://schemas.openxmlformats.org/drawingml/2006/table">
            <a:tbl>
              <a:tblPr firstRow="1" bandRow="1">
                <a:tableStyleId>{802198C4-3087-4945-87E3-76CBB3509B7E}</a:tableStyleId>
              </a:tblPr>
              <a:tblGrid>
                <a:gridCol w="3078290">
                  <a:extLst>
                    <a:ext uri="{9D8B030D-6E8A-4147-A177-3AD203B41FA5}">
                      <a16:colId xmlns:a16="http://schemas.microsoft.com/office/drawing/2014/main" val="1074702103"/>
                    </a:ext>
                  </a:extLst>
                </a:gridCol>
                <a:gridCol w="5532311">
                  <a:extLst>
                    <a:ext uri="{9D8B030D-6E8A-4147-A177-3AD203B41FA5}">
                      <a16:colId xmlns:a16="http://schemas.microsoft.com/office/drawing/2014/main" val="112206871"/>
                    </a:ext>
                  </a:extLst>
                </a:gridCol>
              </a:tblGrid>
              <a:tr h="574883">
                <a:tc>
                  <a:txBody>
                    <a:bodyPr/>
                    <a:lstStyle/>
                    <a:p>
                      <a:r>
                        <a:rPr lang="en-US" sz="1600" dirty="0">
                          <a:solidFill>
                            <a:schemeClr val="bg1"/>
                          </a:solidFill>
                        </a:rPr>
                        <a:t>Policy</a:t>
                      </a:r>
                    </a:p>
                  </a:txBody>
                  <a:tcPr/>
                </a:tc>
                <a:tc>
                  <a:txBody>
                    <a:bodyPr/>
                    <a:lstStyle/>
                    <a:p>
                      <a:r>
                        <a:rPr lang="en-US" sz="1600" dirty="0">
                          <a:solidFill>
                            <a:schemeClr val="bg1"/>
                          </a:solidFill>
                        </a:rPr>
                        <a:t>Green Pace security requirements</a:t>
                      </a:r>
                    </a:p>
                  </a:txBody>
                  <a:tcPr/>
                </a:tc>
                <a:extLst>
                  <a:ext uri="{0D108BD9-81ED-4DB2-BD59-A6C34878D82A}">
                    <a16:rowId xmlns:a16="http://schemas.microsoft.com/office/drawing/2014/main" val="1720603071"/>
                  </a:ext>
                </a:extLst>
              </a:tr>
              <a:tr h="803261">
                <a:tc>
                  <a:txBody>
                    <a:bodyPr/>
                    <a:lstStyle/>
                    <a:p>
                      <a:r>
                        <a:rPr lang="en-US" sz="1600" dirty="0">
                          <a:solidFill>
                            <a:schemeClr val="bg1"/>
                          </a:solidFill>
                        </a:rPr>
                        <a:t>Authentication – Who are you?</a:t>
                      </a:r>
                    </a:p>
                  </a:txBody>
                  <a:tcPr/>
                </a:tc>
                <a:tc>
                  <a:txBody>
                    <a:bodyPr/>
                    <a:lstStyle/>
                    <a:p>
                      <a:r>
                        <a:rPr lang="en-US" sz="1600" dirty="0">
                          <a:solidFill>
                            <a:schemeClr val="bg1"/>
                          </a:solidFill>
                        </a:rPr>
                        <a:t>Require unique user accounts, strong authentication, and MFA for privileged access.</a:t>
                      </a:r>
                    </a:p>
                  </a:txBody>
                  <a:tcPr/>
                </a:tc>
                <a:extLst>
                  <a:ext uri="{0D108BD9-81ED-4DB2-BD59-A6C34878D82A}">
                    <a16:rowId xmlns:a16="http://schemas.microsoft.com/office/drawing/2014/main" val="4183435129"/>
                  </a:ext>
                </a:extLst>
              </a:tr>
              <a:tr h="803261">
                <a:tc>
                  <a:txBody>
                    <a:bodyPr/>
                    <a:lstStyle/>
                    <a:p>
                      <a:r>
                        <a:rPr lang="en-US" sz="1600" dirty="0">
                          <a:solidFill>
                            <a:schemeClr val="bg1"/>
                          </a:solidFill>
                        </a:rPr>
                        <a:t>Authorization – What can you do?</a:t>
                      </a:r>
                    </a:p>
                  </a:txBody>
                  <a:tcPr/>
                </a:tc>
                <a:tc>
                  <a:txBody>
                    <a:bodyPr/>
                    <a:lstStyle/>
                    <a:p>
                      <a:r>
                        <a:rPr lang="en-US" sz="1600" dirty="0">
                          <a:solidFill>
                            <a:schemeClr val="bg1"/>
                          </a:solidFill>
                        </a:rPr>
                        <a:t>Enforce least privilege, role-based access control, and default-deny permissions.</a:t>
                      </a:r>
                    </a:p>
                  </a:txBody>
                  <a:tcPr/>
                </a:tc>
                <a:extLst>
                  <a:ext uri="{0D108BD9-81ED-4DB2-BD59-A6C34878D82A}">
                    <a16:rowId xmlns:a16="http://schemas.microsoft.com/office/drawing/2014/main" val="2704227271"/>
                  </a:ext>
                </a:extLst>
              </a:tr>
              <a:tr h="803261">
                <a:tc>
                  <a:txBody>
                    <a:bodyPr/>
                    <a:lstStyle/>
                    <a:p>
                      <a:r>
                        <a:rPr lang="en-US" sz="1600" dirty="0">
                          <a:solidFill>
                            <a:schemeClr val="bg1"/>
                          </a:solidFill>
                        </a:rPr>
                        <a:t>Account – What did you do?</a:t>
                      </a:r>
                    </a:p>
                  </a:txBody>
                  <a:tcPr/>
                </a:tc>
                <a:tc>
                  <a:txBody>
                    <a:bodyPr/>
                    <a:lstStyle/>
                    <a:p>
                      <a:r>
                        <a:rPr lang="en-US" sz="1600" dirty="0">
                          <a:solidFill>
                            <a:schemeClr val="bg1"/>
                          </a:solidFill>
                        </a:rPr>
                        <a:t>Log authentication attempts, access changes, and security-relevant activities. Protect logs against tampering.</a:t>
                      </a:r>
                    </a:p>
                  </a:txBody>
                  <a:tcPr/>
                </a:tc>
                <a:extLst>
                  <a:ext uri="{0D108BD9-81ED-4DB2-BD59-A6C34878D82A}">
                    <a16:rowId xmlns:a16="http://schemas.microsoft.com/office/drawing/2014/main" val="2330427192"/>
                  </a:ext>
                </a:extLst>
              </a:tr>
            </a:tbl>
          </a:graphicData>
        </a:graphic>
      </p:graphicFrame>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g9504e29505_0_0"/>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pPr>
            <a:r>
              <a:rPr lang="en-US" dirty="0"/>
              <a:t>Does a Valid Index Return the Expected Value?</a:t>
            </a:r>
            <a:endParaRPr dirty="0"/>
          </a:p>
        </p:txBody>
      </p:sp>
      <p:sp>
        <p:nvSpPr>
          <p:cNvPr id="196" name="Google Shape;196;g9504e29505_0_0"/>
          <p:cNvSpPr txBox="1">
            <a:spLocks noGrp="1"/>
          </p:cNvSpPr>
          <p:nvPr>
            <p:ph type="body" idx="1"/>
          </p:nvPr>
        </p:nvSpPr>
        <p:spPr>
          <a:xfrm>
            <a:off x="685800" y="2194560"/>
            <a:ext cx="10820400" cy="306324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1000"/>
              </a:spcBef>
              <a:spcAft>
                <a:spcPts val="0"/>
              </a:spcAft>
              <a:buSzPts val="1800"/>
              <a:buNone/>
            </a:pPr>
            <a:r>
              <a:rPr lang="en-US" dirty="0"/>
              <a:t>Coding Standard: STD-010-CPP – Keep Container Indices Within Range</a:t>
            </a:r>
          </a:p>
          <a:p>
            <a:pPr marL="0" lvl="0" indent="0" algn="l" rtl="0">
              <a:lnSpc>
                <a:spcPct val="90000"/>
              </a:lnSpc>
              <a:spcBef>
                <a:spcPts val="1000"/>
              </a:spcBef>
              <a:spcAft>
                <a:spcPts val="0"/>
              </a:spcAft>
              <a:buSzPts val="1800"/>
              <a:buNone/>
            </a:pPr>
            <a:r>
              <a:rPr lang="en-US" dirty="0"/>
              <a:t>Test: </a:t>
            </a:r>
            <a:r>
              <a:rPr lang="en-US" dirty="0" err="1"/>
              <a:t>ValidIndexReturnsExpectedValu</a:t>
            </a:r>
            <a:endParaRPr lang="en-US" dirty="0"/>
          </a:p>
          <a:p>
            <a:pPr marL="0" lvl="0" indent="0" algn="l" rtl="0">
              <a:lnSpc>
                <a:spcPct val="90000"/>
              </a:lnSpc>
              <a:spcBef>
                <a:spcPts val="1000"/>
              </a:spcBef>
              <a:spcAft>
                <a:spcPts val="0"/>
              </a:spcAft>
              <a:buSzPts val="1800"/>
              <a:buNone/>
            </a:pPr>
            <a:r>
              <a:rPr lang="en-US" dirty="0"/>
              <a:t>Input: Vector {10, 20, 30}, index 1</a:t>
            </a:r>
          </a:p>
          <a:p>
            <a:pPr marL="0" lvl="0" indent="0" algn="l" rtl="0">
              <a:lnSpc>
                <a:spcPct val="90000"/>
              </a:lnSpc>
              <a:spcBef>
                <a:spcPts val="1000"/>
              </a:spcBef>
              <a:spcAft>
                <a:spcPts val="0"/>
              </a:spcAft>
              <a:buSzPts val="1800"/>
              <a:buNone/>
            </a:pPr>
            <a:r>
              <a:rPr lang="en-US" dirty="0"/>
              <a:t>Expected Result: Return 20</a:t>
            </a:r>
          </a:p>
          <a:p>
            <a:pPr marL="0" lvl="0" indent="0" algn="l" rtl="0">
              <a:lnSpc>
                <a:spcPct val="90000"/>
              </a:lnSpc>
              <a:spcBef>
                <a:spcPts val="1000"/>
              </a:spcBef>
              <a:spcAft>
                <a:spcPts val="0"/>
              </a:spcAft>
              <a:buSzPts val="1800"/>
              <a:buNone/>
            </a:pPr>
            <a:r>
              <a:rPr lang="en-US" dirty="0"/>
              <a:t>Actual Result: Returned 20</a:t>
            </a:r>
          </a:p>
          <a:p>
            <a:pPr marL="0" lvl="0" indent="0" algn="l" rtl="0">
              <a:lnSpc>
                <a:spcPct val="90000"/>
              </a:lnSpc>
              <a:spcBef>
                <a:spcPts val="1000"/>
              </a:spcBef>
              <a:spcAft>
                <a:spcPts val="0"/>
              </a:spcAft>
              <a:buSzPts val="1800"/>
              <a:buNone/>
            </a:pPr>
            <a:r>
              <a:rPr lang="en-US" dirty="0"/>
              <a:t>Outcome: PASS – Valid index access succeeded.</a:t>
            </a:r>
            <a:endParaRPr dirty="0"/>
          </a:p>
        </p:txBody>
      </p:sp>
      <p:pic>
        <p:nvPicPr>
          <p:cNvPr id="197" name="Google Shape;197;g9504e29505_0_0"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pic>
        <p:nvPicPr>
          <p:cNvPr id="3" name="Picture 2">
            <a:extLst>
              <a:ext uri="{FF2B5EF4-FFF2-40B4-BE49-F238E27FC236}">
                <a16:creationId xmlns:a16="http://schemas.microsoft.com/office/drawing/2014/main" id="{46E172AA-6BB5-64F3-4781-EF3686EA212A}"/>
              </a:ext>
            </a:extLst>
          </p:cNvPr>
          <p:cNvPicPr>
            <a:picLocks noChangeAspect="1"/>
          </p:cNvPicPr>
          <p:nvPr/>
        </p:nvPicPr>
        <p:blipFill>
          <a:blip r:embed="rId5"/>
          <a:stretch>
            <a:fillRect/>
          </a:stretch>
        </p:blipFill>
        <p:spPr>
          <a:xfrm>
            <a:off x="7629805" y="2660775"/>
            <a:ext cx="4127510" cy="2779751"/>
          </a:xfrm>
          <a:prstGeom prst="rect">
            <a:avLst/>
          </a:prstGeom>
        </p:spPr>
      </p:pic>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4">
          <a:extLst>
            <a:ext uri="{FF2B5EF4-FFF2-40B4-BE49-F238E27FC236}">
              <a16:creationId xmlns:a16="http://schemas.microsoft.com/office/drawing/2014/main" id="{66345F7B-AF1A-C7F6-3E6F-4A9217D16FBE}"/>
            </a:ext>
          </a:extLst>
        </p:cNvPr>
        <p:cNvGrpSpPr/>
        <p:nvPr/>
      </p:nvGrpSpPr>
      <p:grpSpPr>
        <a:xfrm>
          <a:off x="0" y="0"/>
          <a:ext cx="0" cy="0"/>
          <a:chOff x="0" y="0"/>
          <a:chExt cx="0" cy="0"/>
        </a:xfrm>
      </p:grpSpPr>
      <p:sp>
        <p:nvSpPr>
          <p:cNvPr id="195" name="Google Shape;195;g9504e29505_0_0">
            <a:extLst>
              <a:ext uri="{FF2B5EF4-FFF2-40B4-BE49-F238E27FC236}">
                <a16:creationId xmlns:a16="http://schemas.microsoft.com/office/drawing/2014/main" id="{B7FE1200-A25C-A248-4A0C-77ADE27B0CC6}"/>
              </a:ext>
            </a:extLst>
          </p:cNvPr>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pPr>
            <a:r>
              <a:rPr lang="en-US" dirty="0"/>
              <a:t>Does the Last Valid Index Return the Expected Value?</a:t>
            </a:r>
            <a:endParaRPr dirty="0"/>
          </a:p>
        </p:txBody>
      </p:sp>
      <p:sp>
        <p:nvSpPr>
          <p:cNvPr id="196" name="Google Shape;196;g9504e29505_0_0">
            <a:extLst>
              <a:ext uri="{FF2B5EF4-FFF2-40B4-BE49-F238E27FC236}">
                <a16:creationId xmlns:a16="http://schemas.microsoft.com/office/drawing/2014/main" id="{5F00E5BB-5D24-35BD-A8E4-A504B49D7386}"/>
              </a:ext>
            </a:extLst>
          </p:cNvPr>
          <p:cNvSpPr txBox="1">
            <a:spLocks noGrp="1"/>
          </p:cNvSpPr>
          <p:nvPr>
            <p:ph type="body" idx="1"/>
          </p:nvPr>
        </p:nvSpPr>
        <p:spPr>
          <a:xfrm>
            <a:off x="685800" y="2194560"/>
            <a:ext cx="10820400" cy="40242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1000"/>
              </a:spcBef>
              <a:spcAft>
                <a:spcPts val="0"/>
              </a:spcAft>
              <a:buSzPts val="1800"/>
              <a:buNone/>
            </a:pPr>
            <a:r>
              <a:rPr lang="en-US" dirty="0"/>
              <a:t>Coding Standard: STD-010-CPP – Keep Container Indices Within Range</a:t>
            </a:r>
          </a:p>
          <a:p>
            <a:pPr marL="0" lvl="0" indent="0" algn="l" rtl="0">
              <a:lnSpc>
                <a:spcPct val="90000"/>
              </a:lnSpc>
              <a:spcBef>
                <a:spcPts val="1000"/>
              </a:spcBef>
              <a:spcAft>
                <a:spcPts val="0"/>
              </a:spcAft>
              <a:buSzPts val="1800"/>
              <a:buNone/>
            </a:pPr>
            <a:r>
              <a:rPr lang="en-US" dirty="0"/>
              <a:t>Test: </a:t>
            </a:r>
            <a:r>
              <a:rPr lang="en-US" dirty="0" err="1"/>
              <a:t>LastValidIndexReturnsExpectedValue</a:t>
            </a:r>
            <a:endParaRPr lang="en-US" dirty="0"/>
          </a:p>
          <a:p>
            <a:pPr marL="0" lvl="0" indent="0" algn="l" rtl="0">
              <a:lnSpc>
                <a:spcPct val="90000"/>
              </a:lnSpc>
              <a:spcBef>
                <a:spcPts val="1000"/>
              </a:spcBef>
              <a:spcAft>
                <a:spcPts val="0"/>
              </a:spcAft>
              <a:buSzPts val="1800"/>
              <a:buNone/>
            </a:pPr>
            <a:r>
              <a:rPr lang="en-US" dirty="0"/>
              <a:t>Input: Vector {10, 20, 30}, index 2</a:t>
            </a:r>
          </a:p>
          <a:p>
            <a:pPr marL="0" lvl="0" indent="0" algn="l" rtl="0">
              <a:lnSpc>
                <a:spcPct val="90000"/>
              </a:lnSpc>
              <a:spcBef>
                <a:spcPts val="1000"/>
              </a:spcBef>
              <a:spcAft>
                <a:spcPts val="0"/>
              </a:spcAft>
              <a:buSzPts val="1800"/>
              <a:buNone/>
            </a:pPr>
            <a:r>
              <a:rPr lang="en-US" dirty="0"/>
              <a:t>Expected Result: Return 30</a:t>
            </a:r>
          </a:p>
          <a:p>
            <a:pPr marL="0" lvl="0" indent="0" algn="l" rtl="0">
              <a:lnSpc>
                <a:spcPct val="90000"/>
              </a:lnSpc>
              <a:spcBef>
                <a:spcPts val="1000"/>
              </a:spcBef>
              <a:spcAft>
                <a:spcPts val="0"/>
              </a:spcAft>
              <a:buSzPts val="1800"/>
              <a:buNone/>
            </a:pPr>
            <a:r>
              <a:rPr lang="en-US" dirty="0"/>
              <a:t>Actual Result: Test passed; returned value matched 30</a:t>
            </a:r>
          </a:p>
          <a:p>
            <a:pPr marL="0" lvl="0" indent="0" algn="l" rtl="0">
              <a:lnSpc>
                <a:spcPct val="90000"/>
              </a:lnSpc>
              <a:spcBef>
                <a:spcPts val="1000"/>
              </a:spcBef>
              <a:spcAft>
                <a:spcPts val="0"/>
              </a:spcAft>
              <a:buSzPts val="1800"/>
              <a:buNone/>
            </a:pPr>
            <a:r>
              <a:rPr lang="en-US" dirty="0"/>
              <a:t>Outcome: PASS – Last valid index accessed successfully</a:t>
            </a:r>
          </a:p>
          <a:p>
            <a:pPr marL="0" lvl="0" indent="0" algn="l" rtl="0">
              <a:lnSpc>
                <a:spcPct val="90000"/>
              </a:lnSpc>
              <a:spcBef>
                <a:spcPts val="1000"/>
              </a:spcBef>
              <a:spcAft>
                <a:spcPts val="0"/>
              </a:spcAft>
              <a:buSzPts val="1800"/>
              <a:buNone/>
            </a:pPr>
            <a:endParaRPr dirty="0"/>
          </a:p>
        </p:txBody>
      </p:sp>
      <p:pic>
        <p:nvPicPr>
          <p:cNvPr id="197" name="Google Shape;197;g9504e29505_0_0" descr="Green Pace logo">
            <a:extLst>
              <a:ext uri="{FF2B5EF4-FFF2-40B4-BE49-F238E27FC236}">
                <a16:creationId xmlns:a16="http://schemas.microsoft.com/office/drawing/2014/main" id="{7CF38328-C565-19FE-10D2-BCCD0FAFCB81}"/>
              </a:ext>
            </a:extLst>
          </p:cNvPr>
          <p:cNvPicPr preferRelativeResize="0"/>
          <p:nvPr/>
        </p:nvPicPr>
        <p:blipFill>
          <a:blip r:embed="rId4">
            <a:alphaModFix/>
          </a:blip>
          <a:stretch>
            <a:fillRect/>
          </a:stretch>
        </p:blipFill>
        <p:spPr>
          <a:xfrm>
            <a:off x="11084074" y="5440526"/>
            <a:ext cx="886601" cy="1149225"/>
          </a:xfrm>
          <a:prstGeom prst="rect">
            <a:avLst/>
          </a:prstGeom>
          <a:noFill/>
          <a:ln>
            <a:noFill/>
          </a:ln>
        </p:spPr>
      </p:pic>
      <p:pic>
        <p:nvPicPr>
          <p:cNvPr id="3" name="Picture 2">
            <a:extLst>
              <a:ext uri="{FF2B5EF4-FFF2-40B4-BE49-F238E27FC236}">
                <a16:creationId xmlns:a16="http://schemas.microsoft.com/office/drawing/2014/main" id="{7A252CF6-1EA7-0988-A7BB-450009D5178A}"/>
              </a:ext>
            </a:extLst>
          </p:cNvPr>
          <p:cNvPicPr>
            <a:picLocks noChangeAspect="1"/>
          </p:cNvPicPr>
          <p:nvPr/>
        </p:nvPicPr>
        <p:blipFill>
          <a:blip r:embed="rId5"/>
          <a:stretch>
            <a:fillRect/>
          </a:stretch>
        </p:blipFill>
        <p:spPr>
          <a:xfrm>
            <a:off x="2631004" y="4835070"/>
            <a:ext cx="6507867" cy="1754681"/>
          </a:xfrm>
          <a:prstGeom prst="rect">
            <a:avLst/>
          </a:prstGeom>
        </p:spPr>
      </p:pic>
    </p:spTree>
    <p:custDataLst>
      <p:tags r:id="rId1"/>
    </p:custDataLst>
    <p:extLst>
      <p:ext uri="{BB962C8B-B14F-4D97-AF65-F5344CB8AC3E}">
        <p14:creationId xmlns:p14="http://schemas.microsoft.com/office/powerpoint/2010/main" val="37112929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4">
          <a:extLst>
            <a:ext uri="{FF2B5EF4-FFF2-40B4-BE49-F238E27FC236}">
              <a16:creationId xmlns:a16="http://schemas.microsoft.com/office/drawing/2014/main" id="{79BBE11F-A9ED-7B82-26F0-69754D0133D6}"/>
            </a:ext>
          </a:extLst>
        </p:cNvPr>
        <p:cNvGrpSpPr/>
        <p:nvPr/>
      </p:nvGrpSpPr>
      <p:grpSpPr>
        <a:xfrm>
          <a:off x="0" y="0"/>
          <a:ext cx="0" cy="0"/>
          <a:chOff x="0" y="0"/>
          <a:chExt cx="0" cy="0"/>
        </a:xfrm>
      </p:grpSpPr>
      <p:sp>
        <p:nvSpPr>
          <p:cNvPr id="195" name="Google Shape;195;g9504e29505_0_0">
            <a:extLst>
              <a:ext uri="{FF2B5EF4-FFF2-40B4-BE49-F238E27FC236}">
                <a16:creationId xmlns:a16="http://schemas.microsoft.com/office/drawing/2014/main" id="{081CD507-B223-8F9A-3FAC-FEC150F5C87B}"/>
              </a:ext>
            </a:extLst>
          </p:cNvPr>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pPr>
            <a:r>
              <a:rPr lang="en-US" dirty="0"/>
              <a:t>Does an Invalid Index Trigger an Exception?</a:t>
            </a:r>
            <a:endParaRPr dirty="0"/>
          </a:p>
        </p:txBody>
      </p:sp>
      <p:sp>
        <p:nvSpPr>
          <p:cNvPr id="196" name="Google Shape;196;g9504e29505_0_0">
            <a:extLst>
              <a:ext uri="{FF2B5EF4-FFF2-40B4-BE49-F238E27FC236}">
                <a16:creationId xmlns:a16="http://schemas.microsoft.com/office/drawing/2014/main" id="{17DD10E7-5CD1-B247-6D84-80B07FBB40F1}"/>
              </a:ext>
            </a:extLst>
          </p:cNvPr>
          <p:cNvSpPr txBox="1">
            <a:spLocks noGrp="1"/>
          </p:cNvSpPr>
          <p:nvPr>
            <p:ph type="body" idx="1"/>
          </p:nvPr>
        </p:nvSpPr>
        <p:spPr>
          <a:xfrm>
            <a:off x="685800" y="2194560"/>
            <a:ext cx="10820400" cy="40242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1000"/>
              </a:spcBef>
              <a:spcAft>
                <a:spcPts val="0"/>
              </a:spcAft>
              <a:buSzPts val="1800"/>
              <a:buNone/>
            </a:pPr>
            <a:r>
              <a:rPr lang="en-US" dirty="0"/>
              <a:t>Coding Standard: STD-010-CPP – Keep Container Indices Within Range</a:t>
            </a:r>
          </a:p>
          <a:p>
            <a:pPr marL="0" lvl="0" indent="0" algn="l" rtl="0">
              <a:lnSpc>
                <a:spcPct val="90000"/>
              </a:lnSpc>
              <a:spcBef>
                <a:spcPts val="1000"/>
              </a:spcBef>
              <a:spcAft>
                <a:spcPts val="0"/>
              </a:spcAft>
              <a:buSzPts val="1800"/>
              <a:buNone/>
            </a:pPr>
            <a:r>
              <a:rPr lang="en-US" dirty="0"/>
              <a:t>Test: </a:t>
            </a:r>
            <a:r>
              <a:rPr lang="en-US" dirty="0" err="1"/>
              <a:t>InvalidIndexThrowsException</a:t>
            </a:r>
            <a:endParaRPr lang="en-US" dirty="0"/>
          </a:p>
          <a:p>
            <a:pPr marL="0" lvl="0" indent="0" algn="l" rtl="0">
              <a:lnSpc>
                <a:spcPct val="90000"/>
              </a:lnSpc>
              <a:spcBef>
                <a:spcPts val="1000"/>
              </a:spcBef>
              <a:spcAft>
                <a:spcPts val="0"/>
              </a:spcAft>
              <a:buSzPts val="1800"/>
              <a:buNone/>
            </a:pPr>
            <a:r>
              <a:rPr lang="en-US" dirty="0"/>
              <a:t>Input: Vector {10, 20, 30}, index 3</a:t>
            </a:r>
          </a:p>
          <a:p>
            <a:pPr marL="0" lvl="0" indent="0" algn="l" rtl="0">
              <a:lnSpc>
                <a:spcPct val="90000"/>
              </a:lnSpc>
              <a:spcBef>
                <a:spcPts val="1000"/>
              </a:spcBef>
              <a:spcAft>
                <a:spcPts val="0"/>
              </a:spcAft>
              <a:buSzPts val="1800"/>
              <a:buNone/>
            </a:pPr>
            <a:r>
              <a:rPr lang="en-US" dirty="0"/>
              <a:t>Expected Result: Throw std::</a:t>
            </a:r>
            <a:r>
              <a:rPr lang="en-US" dirty="0" err="1"/>
              <a:t>out_of_range</a:t>
            </a:r>
            <a:endParaRPr lang="en-US" dirty="0"/>
          </a:p>
          <a:p>
            <a:pPr marL="0" lvl="0" indent="0" algn="l" rtl="0">
              <a:lnSpc>
                <a:spcPct val="90000"/>
              </a:lnSpc>
              <a:spcBef>
                <a:spcPts val="1000"/>
              </a:spcBef>
              <a:spcAft>
                <a:spcPts val="0"/>
              </a:spcAft>
              <a:buSzPts val="1800"/>
              <a:buNone/>
            </a:pPr>
            <a:r>
              <a:rPr lang="en-US" dirty="0"/>
              <a:t>Actual Result: Expected exception was thrown.</a:t>
            </a:r>
          </a:p>
          <a:p>
            <a:pPr marL="0" lvl="0" indent="0" algn="l" rtl="0">
              <a:lnSpc>
                <a:spcPct val="90000"/>
              </a:lnSpc>
              <a:spcBef>
                <a:spcPts val="1000"/>
              </a:spcBef>
              <a:spcAft>
                <a:spcPts val="0"/>
              </a:spcAft>
              <a:buSzPts val="1800"/>
              <a:buNone/>
            </a:pPr>
            <a:r>
              <a:rPr lang="en-US" dirty="0"/>
              <a:t>Outcome: PASS – Invalid Index access was detected.</a:t>
            </a:r>
            <a:endParaRPr dirty="0"/>
          </a:p>
        </p:txBody>
      </p:sp>
      <p:pic>
        <p:nvPicPr>
          <p:cNvPr id="197" name="Google Shape;197;g9504e29505_0_0" descr="Green Pace logo">
            <a:extLst>
              <a:ext uri="{FF2B5EF4-FFF2-40B4-BE49-F238E27FC236}">
                <a16:creationId xmlns:a16="http://schemas.microsoft.com/office/drawing/2014/main" id="{DC7368A6-256F-B1F3-BAC4-672FECEC1E40}"/>
              </a:ext>
            </a:extLst>
          </p:cNvPr>
          <p:cNvPicPr preferRelativeResize="0"/>
          <p:nvPr/>
        </p:nvPicPr>
        <p:blipFill>
          <a:blip r:embed="rId4">
            <a:alphaModFix/>
          </a:blip>
          <a:stretch>
            <a:fillRect/>
          </a:stretch>
        </p:blipFill>
        <p:spPr>
          <a:xfrm>
            <a:off x="11084074" y="5440526"/>
            <a:ext cx="886601" cy="1149225"/>
          </a:xfrm>
          <a:prstGeom prst="rect">
            <a:avLst/>
          </a:prstGeom>
          <a:noFill/>
          <a:ln>
            <a:noFill/>
          </a:ln>
        </p:spPr>
      </p:pic>
      <p:pic>
        <p:nvPicPr>
          <p:cNvPr id="3" name="Picture 2">
            <a:extLst>
              <a:ext uri="{FF2B5EF4-FFF2-40B4-BE49-F238E27FC236}">
                <a16:creationId xmlns:a16="http://schemas.microsoft.com/office/drawing/2014/main" id="{34666DB3-58A7-AAC0-0989-664ADE0F6E60}"/>
              </a:ext>
            </a:extLst>
          </p:cNvPr>
          <p:cNvPicPr>
            <a:picLocks noChangeAspect="1"/>
          </p:cNvPicPr>
          <p:nvPr/>
        </p:nvPicPr>
        <p:blipFill>
          <a:blip r:embed="rId5"/>
          <a:stretch>
            <a:fillRect/>
          </a:stretch>
        </p:blipFill>
        <p:spPr>
          <a:xfrm>
            <a:off x="2699562" y="4788742"/>
            <a:ext cx="6792876" cy="1801009"/>
          </a:xfrm>
          <a:prstGeom prst="rect">
            <a:avLst/>
          </a:prstGeom>
        </p:spPr>
      </p:pic>
    </p:spTree>
    <p:custDataLst>
      <p:tags r:id="rId1"/>
    </p:custDataLst>
    <p:extLst>
      <p:ext uri="{BB962C8B-B14F-4D97-AF65-F5344CB8AC3E}">
        <p14:creationId xmlns:p14="http://schemas.microsoft.com/office/powerpoint/2010/main" val="2056807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4">
          <a:extLst>
            <a:ext uri="{FF2B5EF4-FFF2-40B4-BE49-F238E27FC236}">
              <a16:creationId xmlns:a16="http://schemas.microsoft.com/office/drawing/2014/main" id="{D380A8B2-73C8-8E6C-3FC2-85F5455AC18C}"/>
            </a:ext>
          </a:extLst>
        </p:cNvPr>
        <p:cNvGrpSpPr/>
        <p:nvPr/>
      </p:nvGrpSpPr>
      <p:grpSpPr>
        <a:xfrm>
          <a:off x="0" y="0"/>
          <a:ext cx="0" cy="0"/>
          <a:chOff x="0" y="0"/>
          <a:chExt cx="0" cy="0"/>
        </a:xfrm>
      </p:grpSpPr>
      <p:sp>
        <p:nvSpPr>
          <p:cNvPr id="195" name="Google Shape;195;g9504e29505_0_0">
            <a:extLst>
              <a:ext uri="{FF2B5EF4-FFF2-40B4-BE49-F238E27FC236}">
                <a16:creationId xmlns:a16="http://schemas.microsoft.com/office/drawing/2014/main" id="{49D6AE7C-382C-61C2-0749-BF8F676752EC}"/>
              </a:ext>
            </a:extLst>
          </p:cNvPr>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pPr>
            <a:r>
              <a:rPr lang="en-US" dirty="0"/>
              <a:t>Does Accessing an Empty Vector Trigger an Exception?</a:t>
            </a:r>
            <a:endParaRPr dirty="0"/>
          </a:p>
        </p:txBody>
      </p:sp>
      <p:sp>
        <p:nvSpPr>
          <p:cNvPr id="196" name="Google Shape;196;g9504e29505_0_0">
            <a:extLst>
              <a:ext uri="{FF2B5EF4-FFF2-40B4-BE49-F238E27FC236}">
                <a16:creationId xmlns:a16="http://schemas.microsoft.com/office/drawing/2014/main" id="{2CC78229-959E-8020-03B5-BB5E82254736}"/>
              </a:ext>
            </a:extLst>
          </p:cNvPr>
          <p:cNvSpPr txBox="1">
            <a:spLocks noGrp="1"/>
          </p:cNvSpPr>
          <p:nvPr>
            <p:ph type="body" idx="1"/>
          </p:nvPr>
        </p:nvSpPr>
        <p:spPr>
          <a:xfrm>
            <a:off x="685800" y="2194560"/>
            <a:ext cx="10820400" cy="40242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1000"/>
              </a:spcBef>
              <a:spcAft>
                <a:spcPts val="0"/>
              </a:spcAft>
              <a:buSzPts val="1800"/>
              <a:buNone/>
            </a:pPr>
            <a:r>
              <a:rPr lang="en-US" dirty="0"/>
              <a:t>Coding Standard: STD-010-CPP – Keep Container Indices Within Range</a:t>
            </a:r>
          </a:p>
          <a:p>
            <a:pPr marL="0" lvl="0" indent="0" algn="l" rtl="0">
              <a:lnSpc>
                <a:spcPct val="90000"/>
              </a:lnSpc>
              <a:spcBef>
                <a:spcPts val="1000"/>
              </a:spcBef>
              <a:spcAft>
                <a:spcPts val="0"/>
              </a:spcAft>
              <a:buSzPts val="1800"/>
              <a:buNone/>
            </a:pPr>
            <a:r>
              <a:rPr lang="en-US" dirty="0"/>
              <a:t>Test: </a:t>
            </a:r>
            <a:r>
              <a:rPr lang="en-US" dirty="0" err="1"/>
              <a:t>EmptyVectorThrowsException</a:t>
            </a:r>
            <a:endParaRPr lang="en-US" dirty="0"/>
          </a:p>
          <a:p>
            <a:pPr marL="0" lvl="0" indent="0" algn="l" rtl="0">
              <a:lnSpc>
                <a:spcPct val="90000"/>
              </a:lnSpc>
              <a:spcBef>
                <a:spcPts val="1000"/>
              </a:spcBef>
              <a:spcAft>
                <a:spcPts val="0"/>
              </a:spcAft>
              <a:buSzPts val="1800"/>
              <a:buNone/>
            </a:pPr>
            <a:r>
              <a:rPr lang="en-US" dirty="0"/>
              <a:t>Input: Empty vector {}, index 0</a:t>
            </a:r>
          </a:p>
          <a:p>
            <a:pPr marL="0" lvl="0" indent="0" algn="l" rtl="0">
              <a:lnSpc>
                <a:spcPct val="90000"/>
              </a:lnSpc>
              <a:spcBef>
                <a:spcPts val="1000"/>
              </a:spcBef>
              <a:spcAft>
                <a:spcPts val="0"/>
              </a:spcAft>
              <a:buSzPts val="1800"/>
              <a:buNone/>
            </a:pPr>
            <a:r>
              <a:rPr lang="en-US" dirty="0"/>
              <a:t>Expected Result: Throw std::</a:t>
            </a:r>
            <a:r>
              <a:rPr lang="en-US" dirty="0" err="1"/>
              <a:t>out_of_range</a:t>
            </a:r>
            <a:endParaRPr lang="en-US" dirty="0"/>
          </a:p>
          <a:p>
            <a:pPr marL="0" lvl="0" indent="0" algn="l" rtl="0">
              <a:lnSpc>
                <a:spcPct val="90000"/>
              </a:lnSpc>
              <a:spcBef>
                <a:spcPts val="1000"/>
              </a:spcBef>
              <a:spcAft>
                <a:spcPts val="0"/>
              </a:spcAft>
              <a:buSzPts val="1800"/>
              <a:buNone/>
            </a:pPr>
            <a:r>
              <a:rPr lang="en-US" dirty="0"/>
              <a:t>Actual Result: Expected exception was thrown.</a:t>
            </a:r>
          </a:p>
          <a:p>
            <a:pPr marL="0" lvl="0" indent="0" algn="l" rtl="0">
              <a:lnSpc>
                <a:spcPct val="90000"/>
              </a:lnSpc>
              <a:spcBef>
                <a:spcPts val="1000"/>
              </a:spcBef>
              <a:spcAft>
                <a:spcPts val="0"/>
              </a:spcAft>
              <a:buSzPts val="1800"/>
              <a:buNone/>
            </a:pPr>
            <a:r>
              <a:rPr lang="en-US" dirty="0"/>
              <a:t>Outcome: PASS – Empty container access was detected.</a:t>
            </a:r>
            <a:endParaRPr dirty="0"/>
          </a:p>
        </p:txBody>
      </p:sp>
      <p:pic>
        <p:nvPicPr>
          <p:cNvPr id="197" name="Google Shape;197;g9504e29505_0_0" descr="Green Pace logo">
            <a:extLst>
              <a:ext uri="{FF2B5EF4-FFF2-40B4-BE49-F238E27FC236}">
                <a16:creationId xmlns:a16="http://schemas.microsoft.com/office/drawing/2014/main" id="{54B88EAC-2095-D246-EE14-031FCD351331}"/>
              </a:ext>
            </a:extLst>
          </p:cNvPr>
          <p:cNvPicPr preferRelativeResize="0"/>
          <p:nvPr/>
        </p:nvPicPr>
        <p:blipFill>
          <a:blip r:embed="rId4">
            <a:alphaModFix/>
          </a:blip>
          <a:stretch>
            <a:fillRect/>
          </a:stretch>
        </p:blipFill>
        <p:spPr>
          <a:xfrm>
            <a:off x="11084074" y="5440526"/>
            <a:ext cx="886601" cy="1149225"/>
          </a:xfrm>
          <a:prstGeom prst="rect">
            <a:avLst/>
          </a:prstGeom>
          <a:noFill/>
          <a:ln>
            <a:noFill/>
          </a:ln>
        </p:spPr>
      </p:pic>
      <p:pic>
        <p:nvPicPr>
          <p:cNvPr id="3" name="Picture 2">
            <a:extLst>
              <a:ext uri="{FF2B5EF4-FFF2-40B4-BE49-F238E27FC236}">
                <a16:creationId xmlns:a16="http://schemas.microsoft.com/office/drawing/2014/main" id="{AA7053C8-98E2-C530-2A3E-999B99B4ED68}"/>
              </a:ext>
            </a:extLst>
          </p:cNvPr>
          <p:cNvPicPr>
            <a:picLocks noChangeAspect="1"/>
          </p:cNvPicPr>
          <p:nvPr/>
        </p:nvPicPr>
        <p:blipFill>
          <a:blip r:embed="rId5"/>
          <a:stretch>
            <a:fillRect/>
          </a:stretch>
        </p:blipFill>
        <p:spPr>
          <a:xfrm>
            <a:off x="2836721" y="4889498"/>
            <a:ext cx="6518558" cy="1700253"/>
          </a:xfrm>
          <a:prstGeom prst="rect">
            <a:avLst/>
          </a:prstGeom>
        </p:spPr>
      </p:pic>
    </p:spTree>
    <p:custDataLst>
      <p:tags r:id="rId1"/>
    </p:custDataLst>
    <p:extLst>
      <p:ext uri="{BB962C8B-B14F-4D97-AF65-F5344CB8AC3E}">
        <p14:creationId xmlns:p14="http://schemas.microsoft.com/office/powerpoint/2010/main" val="19881475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AUTOMATION SUMMARY</a:t>
            </a:r>
            <a:endParaRPr/>
          </a:p>
        </p:txBody>
      </p:sp>
      <p:pic>
        <p:nvPicPr>
          <p:cNvPr id="203" name="Google Shape;203;p9" descr="DevSec Ops Toolchain Diagram&#10;Graphical representation of the automation process used in the enforcement and compliance of the Security Policy Standards.&#10;The illustration shows a figure eight or infinity symbol to illustrate that the cycle of development is continuous. It starts with assessing and planning, to designing and building with DevSecOps in the center of the continuous loop to maintain system integrity and then make additional changes to make it more secure."/>
          <p:cNvPicPr preferRelativeResize="0">
            <a:picLocks noGrp="1"/>
          </p:cNvPicPr>
          <p:nvPr>
            <p:ph type="body" idx="1"/>
          </p:nvPr>
        </p:nvPicPr>
        <p:blipFill rotWithShape="1">
          <a:blip r:embed="rId4">
            <a:alphaModFix/>
          </a:blip>
          <a:srcRect/>
          <a:stretch/>
        </p:blipFill>
        <p:spPr>
          <a:xfrm>
            <a:off x="5236210" y="3638112"/>
            <a:ext cx="6269990" cy="2951639"/>
          </a:xfrm>
          <a:prstGeom prst="rect">
            <a:avLst/>
          </a:prstGeom>
          <a:noFill/>
          <a:ln>
            <a:noFill/>
          </a:ln>
        </p:spPr>
      </p:pic>
      <p:pic>
        <p:nvPicPr>
          <p:cNvPr id="204" name="Google Shape;204;p9" descr="Green Pace logo"/>
          <p:cNvPicPr preferRelativeResize="0"/>
          <p:nvPr/>
        </p:nvPicPr>
        <p:blipFill>
          <a:blip r:embed="rId5">
            <a:alphaModFix/>
          </a:blip>
          <a:stretch>
            <a:fillRect/>
          </a:stretch>
        </p:blipFill>
        <p:spPr>
          <a:xfrm>
            <a:off x="11084074" y="5440526"/>
            <a:ext cx="886601" cy="1149225"/>
          </a:xfrm>
          <a:prstGeom prst="rect">
            <a:avLst/>
          </a:prstGeom>
          <a:noFill/>
          <a:ln>
            <a:noFill/>
          </a:ln>
        </p:spPr>
      </p:pic>
      <p:sp>
        <p:nvSpPr>
          <p:cNvPr id="2" name="TextBox 1">
            <a:extLst>
              <a:ext uri="{FF2B5EF4-FFF2-40B4-BE49-F238E27FC236}">
                <a16:creationId xmlns:a16="http://schemas.microsoft.com/office/drawing/2014/main" id="{C2452784-D98F-AC7F-08F1-4F0A6E182703}"/>
              </a:ext>
            </a:extLst>
          </p:cNvPr>
          <p:cNvSpPr txBox="1"/>
          <p:nvPr/>
        </p:nvSpPr>
        <p:spPr>
          <a:xfrm>
            <a:off x="1104900" y="1833047"/>
            <a:ext cx="9979174" cy="2246769"/>
          </a:xfrm>
          <a:prstGeom prst="rect">
            <a:avLst/>
          </a:prstGeom>
          <a:noFill/>
        </p:spPr>
        <p:txBody>
          <a:bodyPr wrap="square" rtlCol="0">
            <a:spAutoFit/>
          </a:bodyPr>
          <a:lstStyle/>
          <a:p>
            <a:r>
              <a:rPr lang="en-US" dirty="0">
                <a:solidFill>
                  <a:schemeClr val="bg1"/>
                </a:solidFill>
              </a:rPr>
              <a:t>Green Pace Automated Security Workflow</a:t>
            </a:r>
          </a:p>
          <a:p>
            <a:pPr marL="285750" indent="-285750">
              <a:buFont typeface="Arial" panose="020B0604020202020204" pitchFamily="34" charset="0"/>
              <a:buChar char="•"/>
            </a:pPr>
            <a:r>
              <a:rPr lang="en-US" dirty="0">
                <a:solidFill>
                  <a:schemeClr val="bg1"/>
                </a:solidFill>
              </a:rPr>
              <a:t>Code: Developers follow secure coding standards.</a:t>
            </a:r>
          </a:p>
          <a:p>
            <a:pPr marL="285750" indent="-285750">
              <a:buFont typeface="Arial" panose="020B0604020202020204" pitchFamily="34" charset="0"/>
              <a:buChar char="•"/>
            </a:pPr>
            <a:r>
              <a:rPr lang="en-US" dirty="0">
                <a:solidFill>
                  <a:schemeClr val="bg1"/>
                </a:solidFill>
              </a:rPr>
              <a:t>Build: Compiler warnings and static analysis identify potential vulnerabilities.</a:t>
            </a:r>
          </a:p>
          <a:p>
            <a:pPr marL="285750" indent="-285750">
              <a:buFont typeface="Arial" panose="020B0604020202020204" pitchFamily="34" charset="0"/>
              <a:buChar char="•"/>
            </a:pPr>
            <a:r>
              <a:rPr lang="en-US" dirty="0">
                <a:solidFill>
                  <a:schemeClr val="bg1"/>
                </a:solidFill>
              </a:rPr>
              <a:t>Test: Unit tests and </a:t>
            </a:r>
            <a:r>
              <a:rPr lang="en-US" dirty="0" err="1">
                <a:solidFill>
                  <a:schemeClr val="bg1"/>
                </a:solidFill>
              </a:rPr>
              <a:t>AddressSanitizer</a:t>
            </a:r>
            <a:r>
              <a:rPr lang="en-US" dirty="0">
                <a:solidFill>
                  <a:schemeClr val="bg1"/>
                </a:solidFill>
              </a:rPr>
              <a:t> check application behavior and memory safety.</a:t>
            </a:r>
          </a:p>
          <a:p>
            <a:pPr marL="285750" indent="-285750">
              <a:buFont typeface="Arial" panose="020B0604020202020204" pitchFamily="34" charset="0"/>
              <a:buChar char="•"/>
            </a:pPr>
            <a:r>
              <a:rPr lang="en-US" dirty="0">
                <a:solidFill>
                  <a:schemeClr val="bg1"/>
                </a:solidFill>
              </a:rPr>
              <a:t>Security Scan: OWASP ZAP tests authorized application endpoints for vulnerabilities.</a:t>
            </a:r>
          </a:p>
          <a:p>
            <a:pPr marL="285750" indent="-285750">
              <a:buFont typeface="Arial" panose="020B0604020202020204" pitchFamily="34" charset="0"/>
              <a:buChar char="•"/>
            </a:pPr>
            <a:r>
              <a:rPr lang="en-US" dirty="0">
                <a:solidFill>
                  <a:schemeClr val="bg1"/>
                </a:solidFill>
              </a:rPr>
              <a:t>Review: Developers investigate findings and correct confirmed issues.</a:t>
            </a:r>
          </a:p>
          <a:p>
            <a:pPr marL="285750" indent="-285750">
              <a:buFont typeface="Arial" panose="020B0604020202020204" pitchFamily="34" charset="0"/>
              <a:buChar char="•"/>
            </a:pPr>
            <a:r>
              <a:rPr lang="en-US" dirty="0">
                <a:solidFill>
                  <a:schemeClr val="bg1"/>
                </a:solidFill>
              </a:rPr>
              <a:t>Release: Approved builds proceed through deployment controls.</a:t>
            </a:r>
          </a:p>
          <a:p>
            <a:pPr marL="285750" indent="-285750">
              <a:buFont typeface="Arial" panose="020B0604020202020204" pitchFamily="34" charset="0"/>
              <a:buChar char="•"/>
            </a:pPr>
            <a:endParaRPr lang="en-US" dirty="0">
              <a:solidFill>
                <a:schemeClr val="bg1"/>
              </a:solidFill>
            </a:endParaRPr>
          </a:p>
          <a:p>
            <a:r>
              <a:rPr lang="en-US" dirty="0">
                <a:solidFill>
                  <a:schemeClr val="bg1"/>
                </a:solidFill>
              </a:rPr>
              <a:t>Goal: Identify vulnerabilities early and repeat</a:t>
            </a:r>
          </a:p>
          <a:p>
            <a:r>
              <a:rPr lang="en-US" dirty="0">
                <a:solidFill>
                  <a:schemeClr val="bg1"/>
                </a:solidFill>
              </a:rPr>
              <a:t>security checks throughout development.</a:t>
            </a:r>
          </a:p>
        </p:txBody>
      </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10"/>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TOOLS</a:t>
            </a:r>
            <a:endParaRPr dirty="0"/>
          </a:p>
        </p:txBody>
      </p:sp>
      <p:sp>
        <p:nvSpPr>
          <p:cNvPr id="210" name="Google Shape;210;p10"/>
          <p:cNvSpPr txBox="1">
            <a:spLocks noGrp="1"/>
          </p:cNvSpPr>
          <p:nvPr>
            <p:ph type="body" idx="1"/>
          </p:nvPr>
        </p:nvSpPr>
        <p:spPr>
          <a:xfrm>
            <a:off x="685800" y="5547360"/>
            <a:ext cx="10820400" cy="671325"/>
          </a:xfrm>
          <a:prstGeom prst="rect">
            <a:avLst/>
          </a:prstGeom>
          <a:noFill/>
          <a:ln>
            <a:noFill/>
          </a:ln>
        </p:spPr>
        <p:txBody>
          <a:bodyPr spcFirstLastPara="1" wrap="square" lIns="91425" tIns="45700" rIns="91425" bIns="45700" anchor="t" anchorCtr="0">
            <a:normAutofit/>
          </a:bodyPr>
          <a:lstStyle/>
          <a:p>
            <a:pPr marL="457200" lvl="1" indent="0" algn="l" rtl="0">
              <a:lnSpc>
                <a:spcPct val="90000"/>
              </a:lnSpc>
              <a:spcBef>
                <a:spcPts val="0"/>
              </a:spcBef>
              <a:spcAft>
                <a:spcPts val="0"/>
              </a:spcAft>
              <a:buClr>
                <a:schemeClr val="lt1"/>
              </a:buClr>
              <a:buSzPts val="2000"/>
              <a:buNone/>
            </a:pPr>
            <a:r>
              <a:rPr lang="en-US" sz="1600" dirty="0" err="1"/>
              <a:t>DevSecOps</a:t>
            </a:r>
            <a:r>
              <a:rPr lang="en-US" sz="1600" dirty="0"/>
              <a:t>: Integrate automated security checks into development, testing, and deployment.</a:t>
            </a:r>
            <a:endParaRPr sz="1600" dirty="0"/>
          </a:p>
        </p:txBody>
      </p:sp>
      <p:pic>
        <p:nvPicPr>
          <p:cNvPr id="211" name="Google Shape;211;p10"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graphicFrame>
        <p:nvGraphicFramePr>
          <p:cNvPr id="2" name="Table 1">
            <a:extLst>
              <a:ext uri="{FF2B5EF4-FFF2-40B4-BE49-F238E27FC236}">
                <a16:creationId xmlns:a16="http://schemas.microsoft.com/office/drawing/2014/main" id="{F1B26FD7-F936-0043-4DB0-EFEE83ED6DA6}"/>
              </a:ext>
            </a:extLst>
          </p:cNvPr>
          <p:cNvGraphicFramePr>
            <a:graphicFrameLocks noGrp="1"/>
          </p:cNvGraphicFramePr>
          <p:nvPr>
            <p:extLst>
              <p:ext uri="{D42A27DB-BD31-4B8C-83A1-F6EECF244321}">
                <p14:modId xmlns:p14="http://schemas.microsoft.com/office/powerpoint/2010/main" val="2119524245"/>
              </p:ext>
            </p:extLst>
          </p:nvPr>
        </p:nvGraphicFramePr>
        <p:xfrm>
          <a:off x="1173480" y="1871981"/>
          <a:ext cx="8986518" cy="2225040"/>
        </p:xfrm>
        <a:graphic>
          <a:graphicData uri="http://schemas.openxmlformats.org/drawingml/2006/table">
            <a:tbl>
              <a:tblPr firstRow="1" bandRow="1">
                <a:tableStyleId>{802198C4-3087-4945-87E3-76CBB3509B7E}</a:tableStyleId>
              </a:tblPr>
              <a:tblGrid>
                <a:gridCol w="1996440">
                  <a:extLst>
                    <a:ext uri="{9D8B030D-6E8A-4147-A177-3AD203B41FA5}">
                      <a16:colId xmlns:a16="http://schemas.microsoft.com/office/drawing/2014/main" val="2664969938"/>
                    </a:ext>
                  </a:extLst>
                </a:gridCol>
                <a:gridCol w="1752600">
                  <a:extLst>
                    <a:ext uri="{9D8B030D-6E8A-4147-A177-3AD203B41FA5}">
                      <a16:colId xmlns:a16="http://schemas.microsoft.com/office/drawing/2014/main" val="1832955843"/>
                    </a:ext>
                  </a:extLst>
                </a:gridCol>
                <a:gridCol w="5237478">
                  <a:extLst>
                    <a:ext uri="{9D8B030D-6E8A-4147-A177-3AD203B41FA5}">
                      <a16:colId xmlns:a16="http://schemas.microsoft.com/office/drawing/2014/main" val="101555022"/>
                    </a:ext>
                  </a:extLst>
                </a:gridCol>
              </a:tblGrid>
              <a:tr h="370840">
                <a:tc>
                  <a:txBody>
                    <a:bodyPr/>
                    <a:lstStyle/>
                    <a:p>
                      <a:r>
                        <a:rPr lang="en-US" dirty="0">
                          <a:solidFill>
                            <a:schemeClr val="bg1"/>
                          </a:solidFill>
                        </a:rPr>
                        <a:t>Tool</a:t>
                      </a:r>
                    </a:p>
                  </a:txBody>
                  <a:tcPr/>
                </a:tc>
                <a:tc>
                  <a:txBody>
                    <a:bodyPr/>
                    <a:lstStyle/>
                    <a:p>
                      <a:r>
                        <a:rPr lang="en-US" dirty="0">
                          <a:solidFill>
                            <a:schemeClr val="bg1"/>
                          </a:solidFill>
                        </a:rPr>
                        <a:t>Pipeline stage</a:t>
                      </a:r>
                    </a:p>
                  </a:txBody>
                  <a:tcPr/>
                </a:tc>
                <a:tc>
                  <a:txBody>
                    <a:bodyPr/>
                    <a:lstStyle/>
                    <a:p>
                      <a:r>
                        <a:rPr lang="en-US" dirty="0">
                          <a:solidFill>
                            <a:schemeClr val="bg1"/>
                          </a:solidFill>
                        </a:rPr>
                        <a:t>Purpose</a:t>
                      </a:r>
                    </a:p>
                  </a:txBody>
                  <a:tcPr/>
                </a:tc>
                <a:extLst>
                  <a:ext uri="{0D108BD9-81ED-4DB2-BD59-A6C34878D82A}">
                    <a16:rowId xmlns:a16="http://schemas.microsoft.com/office/drawing/2014/main" val="4073365438"/>
                  </a:ext>
                </a:extLst>
              </a:tr>
              <a:tr h="370840">
                <a:tc>
                  <a:txBody>
                    <a:bodyPr/>
                    <a:lstStyle/>
                    <a:p>
                      <a:r>
                        <a:rPr lang="en-US" dirty="0">
                          <a:solidFill>
                            <a:schemeClr val="bg1"/>
                          </a:solidFill>
                        </a:rPr>
                        <a:t>Clang Compiler</a:t>
                      </a:r>
                    </a:p>
                  </a:txBody>
                  <a:tcPr/>
                </a:tc>
                <a:tc>
                  <a:txBody>
                    <a:bodyPr/>
                    <a:lstStyle/>
                    <a:p>
                      <a:r>
                        <a:rPr lang="en-US" dirty="0">
                          <a:solidFill>
                            <a:schemeClr val="bg1"/>
                          </a:solidFill>
                        </a:rPr>
                        <a:t>Build</a:t>
                      </a:r>
                    </a:p>
                  </a:txBody>
                  <a:tcPr/>
                </a:tc>
                <a:tc>
                  <a:txBody>
                    <a:bodyPr/>
                    <a:lstStyle/>
                    <a:p>
                      <a:r>
                        <a:rPr lang="en-US" dirty="0">
                          <a:solidFill>
                            <a:schemeClr val="bg1"/>
                          </a:solidFill>
                        </a:rPr>
                        <a:t>Detect unsafe conversions and suspicious expressions</a:t>
                      </a:r>
                    </a:p>
                  </a:txBody>
                  <a:tcPr/>
                </a:tc>
                <a:extLst>
                  <a:ext uri="{0D108BD9-81ED-4DB2-BD59-A6C34878D82A}">
                    <a16:rowId xmlns:a16="http://schemas.microsoft.com/office/drawing/2014/main" val="1616852464"/>
                  </a:ext>
                </a:extLst>
              </a:tr>
              <a:tr h="370840">
                <a:tc>
                  <a:txBody>
                    <a:bodyPr/>
                    <a:lstStyle/>
                    <a:p>
                      <a:r>
                        <a:rPr lang="en-US" dirty="0">
                          <a:solidFill>
                            <a:schemeClr val="bg1"/>
                          </a:solidFill>
                        </a:rPr>
                        <a:t>Clang Static Analyzer</a:t>
                      </a:r>
                    </a:p>
                  </a:txBody>
                  <a:tcPr/>
                </a:tc>
                <a:tc>
                  <a:txBody>
                    <a:bodyPr/>
                    <a:lstStyle/>
                    <a:p>
                      <a:r>
                        <a:rPr lang="en-US" dirty="0">
                          <a:solidFill>
                            <a:schemeClr val="bg1"/>
                          </a:solidFill>
                        </a:rPr>
                        <a:t>Code analysis</a:t>
                      </a:r>
                    </a:p>
                  </a:txBody>
                  <a:tcPr/>
                </a:tc>
                <a:tc>
                  <a:txBody>
                    <a:bodyPr/>
                    <a:lstStyle/>
                    <a:p>
                      <a:r>
                        <a:rPr lang="en-US" dirty="0">
                          <a:solidFill>
                            <a:schemeClr val="bg1"/>
                          </a:solidFill>
                        </a:rPr>
                        <a:t>Identify potential memory and logic defects</a:t>
                      </a:r>
                    </a:p>
                  </a:txBody>
                  <a:tcPr/>
                </a:tc>
                <a:extLst>
                  <a:ext uri="{0D108BD9-81ED-4DB2-BD59-A6C34878D82A}">
                    <a16:rowId xmlns:a16="http://schemas.microsoft.com/office/drawing/2014/main" val="1564494111"/>
                  </a:ext>
                </a:extLst>
              </a:tr>
              <a:tr h="370840">
                <a:tc>
                  <a:txBody>
                    <a:bodyPr/>
                    <a:lstStyle/>
                    <a:p>
                      <a:r>
                        <a:rPr lang="en-US" dirty="0" err="1">
                          <a:solidFill>
                            <a:schemeClr val="bg1"/>
                          </a:solidFill>
                        </a:rPr>
                        <a:t>GoogleTest</a:t>
                      </a:r>
                      <a:endParaRPr lang="en-US" dirty="0">
                        <a:solidFill>
                          <a:schemeClr val="bg1"/>
                        </a:solidFill>
                      </a:endParaRPr>
                    </a:p>
                  </a:txBody>
                  <a:tcPr/>
                </a:tc>
                <a:tc>
                  <a:txBody>
                    <a:bodyPr/>
                    <a:lstStyle/>
                    <a:p>
                      <a:r>
                        <a:rPr lang="en-US" dirty="0">
                          <a:solidFill>
                            <a:schemeClr val="bg1"/>
                          </a:solidFill>
                        </a:rPr>
                        <a:t>Unit testing</a:t>
                      </a:r>
                    </a:p>
                  </a:txBody>
                  <a:tcPr/>
                </a:tc>
                <a:tc>
                  <a:txBody>
                    <a:bodyPr/>
                    <a:lstStyle/>
                    <a:p>
                      <a:r>
                        <a:rPr lang="en-US" dirty="0">
                          <a:solidFill>
                            <a:schemeClr val="bg1"/>
                          </a:solidFill>
                        </a:rPr>
                        <a:t>Verify correct behavior and invalid-input handling</a:t>
                      </a:r>
                    </a:p>
                  </a:txBody>
                  <a:tcPr/>
                </a:tc>
                <a:extLst>
                  <a:ext uri="{0D108BD9-81ED-4DB2-BD59-A6C34878D82A}">
                    <a16:rowId xmlns:a16="http://schemas.microsoft.com/office/drawing/2014/main" val="1223350506"/>
                  </a:ext>
                </a:extLst>
              </a:tr>
              <a:tr h="370840">
                <a:tc>
                  <a:txBody>
                    <a:bodyPr/>
                    <a:lstStyle/>
                    <a:p>
                      <a:r>
                        <a:rPr lang="en-US" dirty="0" err="1">
                          <a:solidFill>
                            <a:schemeClr val="bg1"/>
                          </a:solidFill>
                        </a:rPr>
                        <a:t>AddressSanitizer</a:t>
                      </a:r>
                      <a:endParaRPr lang="en-US" dirty="0">
                        <a:solidFill>
                          <a:schemeClr val="bg1"/>
                        </a:solidFill>
                      </a:endParaRPr>
                    </a:p>
                  </a:txBody>
                  <a:tcPr/>
                </a:tc>
                <a:tc>
                  <a:txBody>
                    <a:bodyPr/>
                    <a:lstStyle/>
                    <a:p>
                      <a:r>
                        <a:rPr lang="en-US" dirty="0">
                          <a:solidFill>
                            <a:schemeClr val="bg1"/>
                          </a:solidFill>
                        </a:rPr>
                        <a:t>Runtime testing</a:t>
                      </a:r>
                    </a:p>
                  </a:txBody>
                  <a:tcPr/>
                </a:tc>
                <a:tc>
                  <a:txBody>
                    <a:bodyPr/>
                    <a:lstStyle/>
                    <a:p>
                      <a:r>
                        <a:rPr lang="en-US" dirty="0">
                          <a:solidFill>
                            <a:schemeClr val="bg1"/>
                          </a:solidFill>
                        </a:rPr>
                        <a:t>Detect certain buffer overflows and memory errors</a:t>
                      </a:r>
                    </a:p>
                  </a:txBody>
                  <a:tcPr/>
                </a:tc>
                <a:extLst>
                  <a:ext uri="{0D108BD9-81ED-4DB2-BD59-A6C34878D82A}">
                    <a16:rowId xmlns:a16="http://schemas.microsoft.com/office/drawing/2014/main" val="332933379"/>
                  </a:ext>
                </a:extLst>
              </a:tr>
              <a:tr h="370840">
                <a:tc>
                  <a:txBody>
                    <a:bodyPr/>
                    <a:lstStyle/>
                    <a:p>
                      <a:r>
                        <a:rPr lang="en-US" dirty="0">
                          <a:solidFill>
                            <a:schemeClr val="bg1"/>
                          </a:solidFill>
                        </a:rPr>
                        <a:t>OWASP ZAP</a:t>
                      </a:r>
                    </a:p>
                  </a:txBody>
                  <a:tcPr/>
                </a:tc>
                <a:tc>
                  <a:txBody>
                    <a:bodyPr/>
                    <a:lstStyle/>
                    <a:p>
                      <a:r>
                        <a:rPr lang="en-US" dirty="0">
                          <a:solidFill>
                            <a:schemeClr val="bg1"/>
                          </a:solidFill>
                        </a:rPr>
                        <a:t>Security testing</a:t>
                      </a:r>
                    </a:p>
                  </a:txBody>
                  <a:tcPr/>
                </a:tc>
                <a:tc>
                  <a:txBody>
                    <a:bodyPr/>
                    <a:lstStyle/>
                    <a:p>
                      <a:r>
                        <a:rPr lang="en-US" dirty="0">
                          <a:solidFill>
                            <a:schemeClr val="bg1"/>
                          </a:solidFill>
                        </a:rPr>
                        <a:t>Scan authorized web applications for vulnerabilities</a:t>
                      </a:r>
                    </a:p>
                  </a:txBody>
                  <a:tcPr/>
                </a:tc>
                <a:extLst>
                  <a:ext uri="{0D108BD9-81ED-4DB2-BD59-A6C34878D82A}">
                    <a16:rowId xmlns:a16="http://schemas.microsoft.com/office/drawing/2014/main" val="1603772292"/>
                  </a:ext>
                </a:extLst>
              </a:tr>
            </a:tbl>
          </a:graphicData>
        </a:graphic>
      </p:graphicFrame>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1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RISKS AND BENEFITS</a:t>
            </a:r>
            <a:endParaRPr/>
          </a:p>
        </p:txBody>
      </p:sp>
      <p:sp>
        <p:nvSpPr>
          <p:cNvPr id="217" name="Google Shape;217;p11"/>
          <p:cNvSpPr txBox="1">
            <a:spLocks noGrp="1"/>
          </p:cNvSpPr>
          <p:nvPr>
            <p:ph type="body" idx="1"/>
          </p:nvPr>
        </p:nvSpPr>
        <p:spPr>
          <a:xfrm>
            <a:off x="685800" y="5069460"/>
            <a:ext cx="10820400" cy="114922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lt1"/>
              </a:buClr>
              <a:buSzPts val="2000"/>
              <a:buNone/>
            </a:pPr>
            <a:r>
              <a:rPr lang="en-US" dirty="0"/>
              <a:t>Next Steps: Prioritize high-risk vulnerabilities, integrate automated checks, and review findings before release.</a:t>
            </a:r>
            <a:endParaRPr dirty="0"/>
          </a:p>
        </p:txBody>
      </p:sp>
      <p:pic>
        <p:nvPicPr>
          <p:cNvPr id="218" name="Google Shape;218;p11"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graphicFrame>
        <p:nvGraphicFramePr>
          <p:cNvPr id="2" name="Table 1">
            <a:extLst>
              <a:ext uri="{FF2B5EF4-FFF2-40B4-BE49-F238E27FC236}">
                <a16:creationId xmlns:a16="http://schemas.microsoft.com/office/drawing/2014/main" id="{87179858-115E-E7E3-245C-3EF7C9604976}"/>
              </a:ext>
            </a:extLst>
          </p:cNvPr>
          <p:cNvGraphicFramePr>
            <a:graphicFrameLocks noGrp="1"/>
          </p:cNvGraphicFramePr>
          <p:nvPr>
            <p:extLst>
              <p:ext uri="{D42A27DB-BD31-4B8C-83A1-F6EECF244321}">
                <p14:modId xmlns:p14="http://schemas.microsoft.com/office/powerpoint/2010/main" val="2366521408"/>
              </p:ext>
            </p:extLst>
          </p:nvPr>
        </p:nvGraphicFramePr>
        <p:xfrm>
          <a:off x="685800" y="2057400"/>
          <a:ext cx="10398274" cy="3012058"/>
        </p:xfrm>
        <a:graphic>
          <a:graphicData uri="http://schemas.openxmlformats.org/drawingml/2006/table">
            <a:tbl>
              <a:tblPr firstRow="1" bandRow="1">
                <a:tableStyleId>{802198C4-3087-4945-87E3-76CBB3509B7E}</a:tableStyleId>
              </a:tblPr>
              <a:tblGrid>
                <a:gridCol w="2801035">
                  <a:extLst>
                    <a:ext uri="{9D8B030D-6E8A-4147-A177-3AD203B41FA5}">
                      <a16:colId xmlns:a16="http://schemas.microsoft.com/office/drawing/2014/main" val="4164324421"/>
                    </a:ext>
                  </a:extLst>
                </a:gridCol>
                <a:gridCol w="7597239">
                  <a:extLst>
                    <a:ext uri="{9D8B030D-6E8A-4147-A177-3AD203B41FA5}">
                      <a16:colId xmlns:a16="http://schemas.microsoft.com/office/drawing/2014/main" val="2585421390"/>
                    </a:ext>
                  </a:extLst>
                </a:gridCol>
              </a:tblGrid>
              <a:tr h="580159">
                <a:tc>
                  <a:txBody>
                    <a:bodyPr/>
                    <a:lstStyle/>
                    <a:p>
                      <a:r>
                        <a:rPr lang="en-US" sz="1800" dirty="0">
                          <a:solidFill>
                            <a:schemeClr val="bg1"/>
                          </a:solidFill>
                        </a:rPr>
                        <a:t>Area</a:t>
                      </a:r>
                    </a:p>
                  </a:txBody>
                  <a:tcPr/>
                </a:tc>
                <a:tc>
                  <a:txBody>
                    <a:bodyPr/>
                    <a:lstStyle/>
                    <a:p>
                      <a:r>
                        <a:rPr lang="en-US" sz="1800" dirty="0">
                          <a:solidFill>
                            <a:schemeClr val="bg1"/>
                          </a:solidFill>
                        </a:rPr>
                        <a:t>Key points</a:t>
                      </a:r>
                    </a:p>
                  </a:txBody>
                  <a:tcPr/>
                </a:tc>
                <a:extLst>
                  <a:ext uri="{0D108BD9-81ED-4DB2-BD59-A6C34878D82A}">
                    <a16:rowId xmlns:a16="http://schemas.microsoft.com/office/drawing/2014/main" val="1494960925"/>
                  </a:ext>
                </a:extLst>
              </a:tr>
              <a:tr h="810633">
                <a:tc>
                  <a:txBody>
                    <a:bodyPr/>
                    <a:lstStyle/>
                    <a:p>
                      <a:r>
                        <a:rPr lang="en-US" sz="1800" dirty="0">
                          <a:solidFill>
                            <a:schemeClr val="bg1"/>
                          </a:solidFill>
                        </a:rPr>
                        <a:t>Risks of Delaying</a:t>
                      </a:r>
                    </a:p>
                  </a:txBody>
                  <a:tcPr/>
                </a:tc>
                <a:tc>
                  <a:txBody>
                    <a:bodyPr/>
                    <a:lstStyle/>
                    <a:p>
                      <a:r>
                        <a:rPr lang="en-US" sz="1800" dirty="0">
                          <a:solidFill>
                            <a:schemeClr val="bg1"/>
                          </a:solidFill>
                        </a:rPr>
                        <a:t>Vulnerabilities remain exposed; potential data breaches, service disruptions, and higher remediation costs.</a:t>
                      </a:r>
                    </a:p>
                  </a:txBody>
                  <a:tcPr/>
                </a:tc>
                <a:extLst>
                  <a:ext uri="{0D108BD9-81ED-4DB2-BD59-A6C34878D82A}">
                    <a16:rowId xmlns:a16="http://schemas.microsoft.com/office/drawing/2014/main" val="3897385576"/>
                  </a:ext>
                </a:extLst>
              </a:tr>
              <a:tr h="810633">
                <a:tc>
                  <a:txBody>
                    <a:bodyPr/>
                    <a:lstStyle/>
                    <a:p>
                      <a:r>
                        <a:rPr lang="en-US" sz="1800" dirty="0">
                          <a:solidFill>
                            <a:schemeClr val="bg1"/>
                          </a:solidFill>
                        </a:rPr>
                        <a:t>Benefits of Acting Now</a:t>
                      </a:r>
                    </a:p>
                  </a:txBody>
                  <a:tcPr/>
                </a:tc>
                <a:tc>
                  <a:txBody>
                    <a:bodyPr/>
                    <a:lstStyle/>
                    <a:p>
                      <a:r>
                        <a:rPr lang="en-US" sz="1800" dirty="0">
                          <a:solidFill>
                            <a:schemeClr val="bg1"/>
                          </a:solidFill>
                        </a:rPr>
                        <a:t>Earlier vulnerability detection, consistent coding practices, reduced security exposure, and more reliable software.</a:t>
                      </a:r>
                    </a:p>
                  </a:txBody>
                  <a:tcPr/>
                </a:tc>
                <a:extLst>
                  <a:ext uri="{0D108BD9-81ED-4DB2-BD59-A6C34878D82A}">
                    <a16:rowId xmlns:a16="http://schemas.microsoft.com/office/drawing/2014/main" val="1101341975"/>
                  </a:ext>
                </a:extLst>
              </a:tr>
              <a:tr h="810633">
                <a:tc>
                  <a:txBody>
                    <a:bodyPr/>
                    <a:lstStyle/>
                    <a:p>
                      <a:r>
                        <a:rPr lang="en-US" sz="1800" dirty="0">
                          <a:solidFill>
                            <a:schemeClr val="bg1"/>
                          </a:solidFill>
                        </a:rPr>
                        <a:t>Strategy Limitations</a:t>
                      </a:r>
                    </a:p>
                  </a:txBody>
                  <a:tcPr/>
                </a:tc>
                <a:tc>
                  <a:txBody>
                    <a:bodyPr/>
                    <a:lstStyle/>
                    <a:p>
                      <a:r>
                        <a:rPr lang="en-US" sz="1800" dirty="0">
                          <a:solidFill>
                            <a:schemeClr val="bg1"/>
                          </a:solidFill>
                        </a:rPr>
                        <a:t>Automated tools can miss vulnerabilities or produce false positives; implementation requires time, training, and ongoing maintenance.</a:t>
                      </a:r>
                    </a:p>
                  </a:txBody>
                  <a:tcPr/>
                </a:tc>
                <a:extLst>
                  <a:ext uri="{0D108BD9-81ED-4DB2-BD59-A6C34878D82A}">
                    <a16:rowId xmlns:a16="http://schemas.microsoft.com/office/drawing/2014/main" val="3398930766"/>
                  </a:ext>
                </a:extLst>
              </a:tr>
            </a:tbl>
          </a:graphicData>
        </a:graphic>
      </p:graphicFrame>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2"/>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RECOMMENDATIONS</a:t>
            </a:r>
            <a:endParaRPr/>
          </a:p>
        </p:txBody>
      </p:sp>
      <p:pic>
        <p:nvPicPr>
          <p:cNvPr id="225" name="Google Shape;225;p12"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
        <p:nvSpPr>
          <p:cNvPr id="3" name="Text Placeholder 2">
            <a:extLst>
              <a:ext uri="{FF2B5EF4-FFF2-40B4-BE49-F238E27FC236}">
                <a16:creationId xmlns:a16="http://schemas.microsoft.com/office/drawing/2014/main" id="{FC5E12A3-1940-BFDF-543D-6AE944A2DE62}"/>
              </a:ext>
            </a:extLst>
          </p:cNvPr>
          <p:cNvSpPr>
            <a:spLocks noGrp="1"/>
          </p:cNvSpPr>
          <p:nvPr>
            <p:ph type="body" idx="1"/>
          </p:nvPr>
        </p:nvSpPr>
        <p:spPr/>
        <p:txBody>
          <a:bodyPr>
            <a:normAutofit lnSpcReduction="10000"/>
          </a:bodyPr>
          <a:lstStyle/>
          <a:p>
            <a:pPr marL="114300" indent="0">
              <a:buNone/>
            </a:pPr>
            <a:r>
              <a:rPr lang="en-US" dirty="0"/>
              <a:t>Recommended Security Policy Improvements</a:t>
            </a:r>
          </a:p>
          <a:p>
            <a:r>
              <a:rPr lang="en-US" dirty="0"/>
              <a:t>Define Enforcement: Establish mandatory security checks and release approval criteria.</a:t>
            </a:r>
          </a:p>
          <a:p>
            <a:r>
              <a:rPr lang="en-US" dirty="0"/>
              <a:t>Expand Coverage: Add standards for dependency management, secrets, and secure configuration.</a:t>
            </a:r>
          </a:p>
          <a:p>
            <a:r>
              <a:rPr lang="en-US" dirty="0"/>
              <a:t>Improve Testing: Require regular security testing and documented remediation.</a:t>
            </a:r>
          </a:p>
          <a:p>
            <a:r>
              <a:rPr lang="en-US" dirty="0"/>
              <a:t>Maintain the Policy: Assign ownership, provide developer training, and schedule periodic reviews.</a:t>
            </a:r>
          </a:p>
          <a:p>
            <a:pPr marL="114300" indent="0">
              <a:buNone/>
            </a:pPr>
            <a:r>
              <a:rPr lang="en-US" dirty="0"/>
              <a:t>Priority: Implement mandatory checks first, then expand and maintain security coverage.</a:t>
            </a:r>
          </a:p>
        </p:txBody>
      </p:sp>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13"/>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CONCLUSIONS</a:t>
            </a:r>
            <a:endParaRPr/>
          </a:p>
        </p:txBody>
      </p:sp>
      <p:sp>
        <p:nvSpPr>
          <p:cNvPr id="231" name="Google Shape;231;p13"/>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lt1"/>
              </a:buClr>
              <a:buSzPts val="2200"/>
              <a:buNone/>
            </a:pPr>
            <a:r>
              <a:rPr lang="en-US" dirty="0"/>
              <a:t>Green Pace Security Policy – Key Takeaways</a:t>
            </a:r>
          </a:p>
          <a:p>
            <a:pPr marL="228600" lvl="0" indent="-228600" algn="l" rtl="0">
              <a:lnSpc>
                <a:spcPct val="90000"/>
              </a:lnSpc>
              <a:spcBef>
                <a:spcPts val="0"/>
              </a:spcBef>
              <a:spcAft>
                <a:spcPts val="0"/>
              </a:spcAft>
              <a:buClr>
                <a:schemeClr val="lt1"/>
              </a:buClr>
              <a:buSzPts val="2200"/>
              <a:buChar char="•"/>
            </a:pPr>
            <a:r>
              <a:rPr lang="en-US" dirty="0"/>
              <a:t>Adopt all ten secure coding standards across C/C++ development.</a:t>
            </a:r>
          </a:p>
          <a:p>
            <a:pPr marL="228600" lvl="0" indent="-228600" algn="l" rtl="0">
              <a:lnSpc>
                <a:spcPct val="90000"/>
              </a:lnSpc>
              <a:spcBef>
                <a:spcPts val="0"/>
              </a:spcBef>
              <a:spcAft>
                <a:spcPts val="0"/>
              </a:spcAft>
              <a:buClr>
                <a:schemeClr val="lt1"/>
              </a:buClr>
              <a:buSzPts val="2200"/>
              <a:buChar char="•"/>
            </a:pPr>
            <a:r>
              <a:rPr lang="en-US" dirty="0"/>
              <a:t>Prioritize buffer safety, SQL injection prevention, and container bounds checking.</a:t>
            </a:r>
          </a:p>
          <a:p>
            <a:pPr marL="228600" lvl="0" indent="-228600" algn="l" rtl="0">
              <a:lnSpc>
                <a:spcPct val="90000"/>
              </a:lnSpc>
              <a:spcBef>
                <a:spcPts val="0"/>
              </a:spcBef>
              <a:spcAft>
                <a:spcPts val="0"/>
              </a:spcAft>
              <a:buClr>
                <a:schemeClr val="lt1"/>
              </a:buClr>
              <a:buSzPts val="2200"/>
              <a:buChar char="•"/>
            </a:pPr>
            <a:r>
              <a:rPr lang="en-US" dirty="0"/>
              <a:t>Integrate automated security testing throughout development.</a:t>
            </a:r>
          </a:p>
          <a:p>
            <a:pPr marL="228600" lvl="0" indent="-228600" algn="l" rtl="0">
              <a:lnSpc>
                <a:spcPct val="90000"/>
              </a:lnSpc>
              <a:spcBef>
                <a:spcPts val="0"/>
              </a:spcBef>
              <a:spcAft>
                <a:spcPts val="0"/>
              </a:spcAft>
              <a:buClr>
                <a:schemeClr val="lt1"/>
              </a:buClr>
              <a:buSzPts val="2200"/>
              <a:buChar char="•"/>
            </a:pPr>
            <a:r>
              <a:rPr lang="en-US" dirty="0"/>
              <a:t>Enforce encryption, access controls, and security review requirements.</a:t>
            </a:r>
          </a:p>
          <a:p>
            <a:pPr marL="228600" lvl="0" indent="-228600" algn="l" rtl="0">
              <a:lnSpc>
                <a:spcPct val="90000"/>
              </a:lnSpc>
              <a:spcBef>
                <a:spcPts val="0"/>
              </a:spcBef>
              <a:spcAft>
                <a:spcPts val="0"/>
              </a:spcAft>
              <a:buClr>
                <a:schemeClr val="lt1"/>
              </a:buClr>
              <a:buSzPts val="2200"/>
              <a:buChar char="•"/>
            </a:pPr>
            <a:r>
              <a:rPr lang="en-US" dirty="0"/>
              <a:t>Maintain and update the policy as threats and technologies evolve.</a:t>
            </a:r>
          </a:p>
          <a:p>
            <a:pPr marL="228600" lvl="0" indent="-228600" algn="l" rtl="0">
              <a:lnSpc>
                <a:spcPct val="90000"/>
              </a:lnSpc>
              <a:spcBef>
                <a:spcPts val="0"/>
              </a:spcBef>
              <a:spcAft>
                <a:spcPts val="0"/>
              </a:spcAft>
              <a:buClr>
                <a:schemeClr val="lt1"/>
              </a:buClr>
              <a:buSzPts val="2200"/>
              <a:buChar char="•"/>
            </a:pPr>
            <a:endParaRPr lang="en-US" dirty="0"/>
          </a:p>
          <a:p>
            <a:pPr marL="0" lvl="0" indent="0" algn="l" rtl="0">
              <a:lnSpc>
                <a:spcPct val="90000"/>
              </a:lnSpc>
              <a:spcBef>
                <a:spcPts val="0"/>
              </a:spcBef>
              <a:spcAft>
                <a:spcPts val="0"/>
              </a:spcAft>
              <a:buClr>
                <a:schemeClr val="lt1"/>
              </a:buClr>
              <a:buSzPts val="2200"/>
              <a:buNone/>
            </a:pPr>
            <a:r>
              <a:rPr lang="en-US" dirty="0"/>
              <a:t>Conclusion: Secure development requires consistent standards, layered defenses, and continuous improvement.</a:t>
            </a:r>
            <a:endParaRPr dirty="0"/>
          </a:p>
        </p:txBody>
      </p:sp>
      <p:pic>
        <p:nvPicPr>
          <p:cNvPr id="232" name="Google Shape;232;p13"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1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REFERENCES</a:t>
            </a:r>
            <a:endParaRPr/>
          </a:p>
        </p:txBody>
      </p:sp>
      <p:sp>
        <p:nvSpPr>
          <p:cNvPr id="238" name="Google Shape;238;p14"/>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fontScale="55000" lnSpcReduction="20000"/>
          </a:bodyPr>
          <a:lstStyle/>
          <a:p>
            <a:r>
              <a:rPr lang="en-US" b="1" dirty="0"/>
              <a:t>References</a:t>
            </a:r>
            <a:endParaRPr lang="en-US" dirty="0"/>
          </a:p>
          <a:p>
            <a:r>
              <a:rPr lang="en-US" dirty="0" err="1"/>
              <a:t>GoogleTest</a:t>
            </a:r>
            <a:r>
              <a:rPr lang="en-US" dirty="0"/>
              <a:t>. (n.d.). </a:t>
            </a:r>
            <a:r>
              <a:rPr lang="en-US" i="1" dirty="0" err="1"/>
              <a:t>GoogleTest</a:t>
            </a:r>
            <a:r>
              <a:rPr lang="en-US" i="1" dirty="0"/>
              <a:t> primer</a:t>
            </a:r>
            <a:r>
              <a:rPr lang="en-US" dirty="0"/>
              <a:t>. </a:t>
            </a:r>
            <a:r>
              <a:rPr lang="en-US" dirty="0">
                <a:hlinkClick r:id="rId4"/>
              </a:rPr>
              <a:t>https://google.github.io/googletest/primer.html</a:t>
            </a:r>
            <a:endParaRPr lang="en-US" dirty="0"/>
          </a:p>
          <a:p>
            <a:r>
              <a:rPr lang="en-US" dirty="0"/>
              <a:t>LLVM Project. (n.d.). </a:t>
            </a:r>
            <a:r>
              <a:rPr lang="en-US" i="1" dirty="0" err="1"/>
              <a:t>AddressSanitizer</a:t>
            </a:r>
            <a:r>
              <a:rPr lang="en-US" dirty="0"/>
              <a:t>. </a:t>
            </a:r>
            <a:r>
              <a:rPr lang="en-US" dirty="0">
                <a:hlinkClick r:id="rId5"/>
              </a:rPr>
              <a:t>https://releases.llvm.org/18.1.8/tools/clang/docs/AddressSanitizer.html</a:t>
            </a:r>
            <a:endParaRPr lang="en-US" dirty="0"/>
          </a:p>
          <a:p>
            <a:r>
              <a:rPr lang="en-US" dirty="0"/>
              <a:t>OWASP Foundation. (n.d.). </a:t>
            </a:r>
            <a:r>
              <a:rPr lang="en-US" i="1" dirty="0"/>
              <a:t>Authentication cheat sheet</a:t>
            </a:r>
            <a:r>
              <a:rPr lang="en-US" dirty="0"/>
              <a:t>. </a:t>
            </a:r>
            <a:r>
              <a:rPr lang="en-US" dirty="0">
                <a:hlinkClick r:id="rId6"/>
              </a:rPr>
              <a:t>https://cheatsheetseries.owasp.org/cheatsheets/Authentication_Cheat_Sheet.html</a:t>
            </a:r>
            <a:endParaRPr lang="en-US" dirty="0"/>
          </a:p>
          <a:p>
            <a:r>
              <a:rPr lang="en-US" dirty="0"/>
              <a:t>OWASP Foundation. (n.d.). </a:t>
            </a:r>
            <a:r>
              <a:rPr lang="en-US" i="1" dirty="0"/>
              <a:t>Authorization cheat sheet</a:t>
            </a:r>
            <a:r>
              <a:rPr lang="en-US" dirty="0"/>
              <a:t>. </a:t>
            </a:r>
            <a:r>
              <a:rPr lang="en-US" dirty="0">
                <a:hlinkClick r:id="rId7"/>
              </a:rPr>
              <a:t>https://cheatsheetseries.owasp.org/cheatsheets/Authorization_Cheat_Sheet.html</a:t>
            </a:r>
            <a:endParaRPr lang="en-US" dirty="0"/>
          </a:p>
          <a:p>
            <a:r>
              <a:rPr lang="en-US" dirty="0"/>
              <a:t>OWASP Foundation. (n.d.). </a:t>
            </a:r>
            <a:r>
              <a:rPr lang="en-US" i="1" dirty="0"/>
              <a:t>Cryptographic storage cheat sheet</a:t>
            </a:r>
            <a:r>
              <a:rPr lang="en-US" dirty="0"/>
              <a:t>. </a:t>
            </a:r>
            <a:r>
              <a:rPr lang="en-US" dirty="0">
                <a:hlinkClick r:id="rId8"/>
              </a:rPr>
              <a:t>https://cheatsheetseries.owasp.org/cheatsheets/Cryptographic_Storage_Cheat_Sheet.html</a:t>
            </a:r>
            <a:endParaRPr lang="en-US" dirty="0"/>
          </a:p>
          <a:p>
            <a:r>
              <a:rPr lang="en-US" dirty="0"/>
              <a:t>OWASP Foundation. (n.d.). </a:t>
            </a:r>
            <a:r>
              <a:rPr lang="en-US" i="1" dirty="0"/>
              <a:t>Logging cheat sheet</a:t>
            </a:r>
            <a:r>
              <a:rPr lang="en-US" dirty="0"/>
              <a:t>. </a:t>
            </a:r>
            <a:r>
              <a:rPr lang="en-US" dirty="0">
                <a:hlinkClick r:id="rId9"/>
              </a:rPr>
              <a:t>https://cheatsheetseries.owasp.org/cheatsheets/Logging_Cheat_Sheet.html</a:t>
            </a:r>
            <a:endParaRPr lang="en-US" dirty="0"/>
          </a:p>
          <a:p>
            <a:r>
              <a:rPr lang="en-US" dirty="0"/>
              <a:t>OWASP Foundation. (n.d.). </a:t>
            </a:r>
            <a:r>
              <a:rPr lang="en-US" i="1" dirty="0"/>
              <a:t>SQL injection prevention cheat sheet</a:t>
            </a:r>
            <a:r>
              <a:rPr lang="en-US" dirty="0"/>
              <a:t>. </a:t>
            </a:r>
            <a:r>
              <a:rPr lang="en-US" dirty="0">
                <a:hlinkClick r:id="rId10"/>
              </a:rPr>
              <a:t>https://cheatsheetseries.owasp.org/cheatsheets/SQL_Injection_Prevention_Cheat_Sheet.html</a:t>
            </a:r>
            <a:endParaRPr lang="en-US" dirty="0"/>
          </a:p>
          <a:p>
            <a:r>
              <a:rPr lang="en-US" dirty="0"/>
              <a:t>OWASP Foundation. (n.d.). </a:t>
            </a:r>
            <a:r>
              <a:rPr lang="en-US" i="1" dirty="0"/>
              <a:t>Transport layer security cheat sheet</a:t>
            </a:r>
            <a:r>
              <a:rPr lang="en-US" dirty="0"/>
              <a:t>. </a:t>
            </a:r>
            <a:r>
              <a:rPr lang="en-US" dirty="0">
                <a:hlinkClick r:id="rId11"/>
              </a:rPr>
              <a:t>https://cheatsheetseries.owasp.org/cheatsheets/Transport_Layer_Security_Cheat_Sheet.html</a:t>
            </a:r>
            <a:endParaRPr lang="en-US" dirty="0"/>
          </a:p>
          <a:p>
            <a:r>
              <a:rPr lang="en-US" dirty="0"/>
              <a:t>Software Engineering Institute. (n.d.). </a:t>
            </a:r>
            <a:r>
              <a:rPr lang="en-US" i="1" dirty="0"/>
              <a:t>CTR50-CPP: Guarantee that container indices and iterators are within the valid range</a:t>
            </a:r>
            <a:r>
              <a:rPr lang="en-US" dirty="0"/>
              <a:t>. CERT Secure Coding. </a:t>
            </a:r>
            <a:r>
              <a:rPr lang="en-US" dirty="0">
                <a:hlinkClick r:id="rId12"/>
              </a:rPr>
              <a:t>https://cmu-sei.github.io/secure-coding-standards/sei-cert-cpp-coding-standard/rules/containers-ctr/ctr50-cpp/</a:t>
            </a:r>
            <a:endParaRPr lang="en-US" dirty="0"/>
          </a:p>
          <a:p>
            <a:r>
              <a:rPr lang="en-US" dirty="0"/>
              <a:t>ZAP. (n.d.). </a:t>
            </a:r>
            <a:r>
              <a:rPr lang="en-US" i="1" dirty="0"/>
              <a:t>SQL injection alert 40018</a:t>
            </a:r>
            <a:r>
              <a:rPr lang="en-US" dirty="0"/>
              <a:t>. </a:t>
            </a:r>
            <a:r>
              <a:rPr lang="en-US" dirty="0">
                <a:hlinkClick r:id="rId13"/>
              </a:rPr>
              <a:t>https://www.zaproxy.org/docs/alerts/40018/</a:t>
            </a:r>
            <a:endParaRPr lang="en-US" dirty="0"/>
          </a:p>
        </p:txBody>
      </p:sp>
      <p:pic>
        <p:nvPicPr>
          <p:cNvPr id="239" name="Google Shape;239;p14" descr="Green Pace logo"/>
          <p:cNvPicPr preferRelativeResize="0"/>
          <p:nvPr/>
        </p:nvPicPr>
        <p:blipFill>
          <a:blip r:embed="rId1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14"/>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Vapor Trail">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9267F6D1A260A4394C18F5AF72445EA" ma:contentTypeVersion="3" ma:contentTypeDescription="Create a new document." ma:contentTypeScope="" ma:versionID="d6a723735a0ade9a92961b83aee31dda">
  <xsd:schema xmlns:xsd="http://www.w3.org/2001/XMLSchema" xmlns:xs="http://www.w3.org/2001/XMLSchema" xmlns:p="http://schemas.microsoft.com/office/2006/metadata/properties" targetNamespace="http://schemas.microsoft.com/office/2006/metadata/properties" ma:root="true" ma:fieldsID="e345bd7673956a623930e5662e321f3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4"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DB4D054-FC38-43E0-B24C-8E3420B75B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F398236C-7FA9-40C9-B456-AA158A506A32}">
  <ds:schemaRefs>
    <ds:schemaRef ds:uri="http://schemas.microsoft.com/sharepoint/v3/contenttype/forms"/>
  </ds:schemaRefs>
</ds:datastoreItem>
</file>

<file path=customXml/itemProps3.xml><?xml version="1.0" encoding="utf-8"?>
<ds:datastoreItem xmlns:ds="http://schemas.openxmlformats.org/officeDocument/2006/customXml" ds:itemID="{3E9B35DD-16B6-4415-A905-CDACA4FC6DBE}">
  <ds:schemaRefs>
    <ds:schemaRef ds:uri="http://schemas.openxmlformats.org/package/2006/metadata/core-properties"/>
    <ds:schemaRef ds:uri="http://www.w3.org/XML/1998/namespace"/>
    <ds:schemaRef ds:uri="http://schemas.microsoft.com/office/2006/documentManagement/types"/>
    <ds:schemaRef ds:uri="http://purl.org/dc/elements/1.1/"/>
    <ds:schemaRef ds:uri="http://purl.org/dc/dcmitype/"/>
    <ds:schemaRef ds:uri="http://schemas.microsoft.com/office/2006/metadata/properties"/>
    <ds:schemaRef ds:uri="http://schemas.microsoft.com/office/infopath/2007/PartnerControls"/>
    <ds:schemaRef ds:uri="http://purl.org/dc/terms/"/>
  </ds:schemaRefs>
</ds:datastoreItem>
</file>

<file path=docProps/app.xml><?xml version="1.0" encoding="utf-8"?>
<Properties xmlns="http://schemas.openxmlformats.org/officeDocument/2006/extended-properties" xmlns:vt="http://schemas.openxmlformats.org/officeDocument/2006/docPropsVTypes">
  <TotalTime>1592</TotalTime>
  <Words>1452</Words>
  <Application>Microsoft Office PowerPoint</Application>
  <PresentationFormat>Widescreen</PresentationFormat>
  <Paragraphs>207</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Century Gothic</vt:lpstr>
      <vt:lpstr>Vapor Trail</vt:lpstr>
      <vt:lpstr>Green Pace</vt:lpstr>
      <vt:lpstr>OVERVIEW: DEFENSE IN DEPTH</vt:lpstr>
      <vt:lpstr>THREATS MATRIX</vt:lpstr>
      <vt:lpstr>10 PRINCIPLES</vt:lpstr>
      <vt:lpstr>CODING STANDARDS</vt:lpstr>
      <vt:lpstr>ENCRYPTION POLICIES</vt:lpstr>
      <vt:lpstr>TRIPLE-A POLICIES</vt:lpstr>
      <vt:lpstr>Does a Valid Index Return the Expected Value?</vt:lpstr>
      <vt:lpstr>Does the Last Valid Index Return the Expected Value?</vt:lpstr>
      <vt:lpstr>Does an Invalid Index Trigger an Exception?</vt:lpstr>
      <vt:lpstr>Does Accessing an Empty Vector Trigger an Exception?</vt:lpstr>
      <vt:lpstr>AUTOMATION SUMMARY</vt:lpstr>
      <vt:lpstr>TOOLS</vt:lpstr>
      <vt:lpstr>RISKS AND BENEFITS</vt:lpstr>
      <vt:lpstr>RECOMMENDATIONS</vt:lpstr>
      <vt:lpstr>CONCLUSIONS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405 Project Two Presentation Template</dc:title>
  <dc:creator>Kathy Shields</dc:creator>
  <cp:lastModifiedBy>Buhr, Blake</cp:lastModifiedBy>
  <cp:revision>11</cp:revision>
  <dcterms:created xsi:type="dcterms:W3CDTF">2020-08-19T17:59:24Z</dcterms:created>
  <dcterms:modified xsi:type="dcterms:W3CDTF">2026-10-25T00:21:40Z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DA78308B-55B0-44AB-B406-C6A80F5E53EB</vt:lpwstr>
  </property>
  <property fmtid="{D5CDD505-2E9C-101B-9397-08002B2CF9AE}" pid="3" name="ArticulatePath">
    <vt:lpwstr>CS 405 P2 Presentation Template</vt:lpwstr>
  </property>
  <property fmtid="{D5CDD505-2E9C-101B-9397-08002B2CF9AE}" pid="4" name="ContentTypeId">
    <vt:lpwstr>0x01010019267F6D1A260A4394C18F5AF72445EA</vt:lpwstr>
  </property>
</Properties>
</file>